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1T19:20:51.831" v="18" actId="14734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51.831" v="18" actId="14734"/>
        <pc:sldMkLst>
          <pc:docMk/>
          <pc:sldMk cId="0" sldId="267"/>
        </pc:sldMkLst>
        <pc:spChg chg="mod">
          <ac:chgData name="Enrique Alves" userId="5d13ffe67fcee0a0" providerId="LiveId" clId="{6B2B118D-CA2E-4A9B-BC7D-9BAAFE503825}" dt="2026-05-21T19:20:45.072" v="15" actId="1076"/>
          <ac:spMkLst>
            <pc:docMk/>
            <pc:sldMk cId="0" sldId="267"/>
            <ac:spMk id="4" creationId="{00000000-0000-0000-0000-000000000000}"/>
          </ac:spMkLst>
        </pc:spChg>
        <pc:graphicFrameChg chg="modGraphic">
          <ac:chgData name="Enrique Alves" userId="5d13ffe67fcee0a0" providerId="LiveId" clId="{6B2B118D-CA2E-4A9B-BC7D-9BAAFE503825}" dt="2026-05-21T19:20:51.831" v="18" actId="14734"/>
          <ac:graphicFrameMkLst>
            <pc:docMk/>
            <pc:sldMk cId="0" sldId="267"/>
            <ac:graphicFrameMk id="7" creationId="{00000000-0000-0000-0000-000000000000}"/>
          </ac:graphicFrameMkLst>
        </pc:graphicFrameChg>
        <pc:picChg chg="mod">
          <ac:chgData name="Enrique Alves" userId="5d13ffe67fcee0a0" providerId="LiveId" clId="{6B2B118D-CA2E-4A9B-BC7D-9BAAFE503825}" dt="2026-05-21T19:20:47.831" v="16" actId="1076"/>
          <ac:picMkLst>
            <pc:docMk/>
            <pc:sldMk cId="0" sldId="267"/>
            <ac:picMk id="5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9:20:37.943" v="13" actId="1076"/>
        <pc:sldMkLst>
          <pc:docMk/>
          <pc:sldMk cId="0" sldId="268"/>
        </pc:sldMkLst>
        <pc:spChg chg="mod">
          <ac:chgData name="Enrique Alves" userId="5d13ffe67fcee0a0" providerId="LiveId" clId="{6B2B118D-CA2E-4A9B-BC7D-9BAAFE503825}" dt="2026-05-21T19:20:37.943" v="13" actId="1076"/>
          <ac:spMkLst>
            <pc:docMk/>
            <pc:sldMk cId="0" sldId="268"/>
            <ac:spMk id="7" creationId="{00000000-0000-0000-0000-000000000000}"/>
          </ac:spMkLst>
        </pc:spChg>
        <pc:graphicFrameChg chg="mod">
          <ac:chgData name="Enrique Alves" userId="5d13ffe67fcee0a0" providerId="LiveId" clId="{6B2B118D-CA2E-4A9B-BC7D-9BAAFE503825}" dt="2026-05-21T19:20:35.875" v="12" actId="1076"/>
          <ac:graphicFrameMkLst>
            <pc:docMk/>
            <pc:sldMk cId="0" sldId="268"/>
            <ac:graphicFrameMk id="6" creationId="{00000000-0000-0000-0000-000000000000}"/>
          </ac:graphicFrameMkLst>
        </pc:graphicFrameChg>
      </pc:sldChg>
      <pc:sldChg chg="modSp mod">
        <pc:chgData name="Enrique Alves" userId="5d13ffe67fcee0a0" providerId="LiveId" clId="{6B2B118D-CA2E-4A9B-BC7D-9BAAFE503825}" dt="2026-05-21T17:34:57.954" v="8" actId="1076"/>
        <pc:sldMkLst>
          <pc:docMk/>
          <pc:sldMk cId="0" sldId="270"/>
        </pc:sldMkLst>
        <pc:picChg chg="mod">
          <ac:chgData name="Enrique Alves" userId="5d13ffe67fcee0a0" providerId="LiveId" clId="{6B2B118D-CA2E-4A9B-BC7D-9BAAFE503825}" dt="2026-05-21T17:34:57.954" v="8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16683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 dirty="0">
                <a:solidFill>
                  <a:srgbClr val="2C8C5A"/>
                </a:solidFill>
              </a:rPr>
              <a:t>DÉFINITION : </a:t>
            </a:r>
            <a:r>
              <a:rPr sz="1500" b="1" dirty="0" err="1">
                <a:solidFill>
                  <a:srgbClr val="2C8C5A"/>
                </a:solidFill>
              </a:rPr>
              <a:t>Winsorization</a:t>
            </a:r>
            <a:endParaRPr sz="1500" b="1" dirty="0">
              <a:solidFill>
                <a:srgbClr val="2C8C5A"/>
              </a:solidFill>
            </a:endParaRPr>
          </a:p>
          <a:p>
            <a:r>
              <a:rPr sz="1300" dirty="0">
                <a:solidFill>
                  <a:srgbClr val="000000"/>
                </a:solidFill>
              </a:rPr>
              <a:t>On </a:t>
            </a:r>
            <a:r>
              <a:rPr sz="1300" dirty="0" err="1">
                <a:solidFill>
                  <a:srgbClr val="000000"/>
                </a:solidFill>
              </a:rPr>
              <a:t>remplace</a:t>
            </a:r>
            <a:r>
              <a:rPr sz="1300" dirty="0">
                <a:solidFill>
                  <a:srgbClr val="000000"/>
                </a:solidFill>
              </a:rPr>
              <a:t> les </a:t>
            </a:r>
            <a:r>
              <a:rPr sz="1300" dirty="0" err="1">
                <a:solidFill>
                  <a:srgbClr val="000000"/>
                </a:solidFill>
              </a:rPr>
              <a:t>valeurs</a:t>
            </a:r>
            <a:r>
              <a:rPr sz="1300" dirty="0">
                <a:solidFill>
                  <a:srgbClr val="000000"/>
                </a:solidFill>
              </a:rPr>
              <a:t> au-dessus du percentile 95 par la </a:t>
            </a:r>
            <a:r>
              <a:rPr sz="1300" dirty="0" err="1">
                <a:solidFill>
                  <a:srgbClr val="000000"/>
                </a:solidFill>
              </a:rPr>
              <a:t>valeur</a:t>
            </a:r>
            <a:r>
              <a:rPr sz="1300" dirty="0">
                <a:solidFill>
                  <a:srgbClr val="000000"/>
                </a:solidFill>
              </a:rPr>
              <a:t> du P95. Retire </a:t>
            </a:r>
            <a:r>
              <a:rPr sz="1300" dirty="0" err="1">
                <a:solidFill>
                  <a:srgbClr val="000000"/>
                </a:solidFill>
              </a:rPr>
              <a:t>l'effet</a:t>
            </a:r>
            <a:r>
              <a:rPr sz="1300" dirty="0">
                <a:solidFill>
                  <a:srgbClr val="000000"/>
                </a:solidFill>
              </a:rPr>
              <a:t> des outliers SANS les </a:t>
            </a:r>
            <a:r>
              <a:rPr sz="1300" dirty="0" err="1">
                <a:solidFill>
                  <a:srgbClr val="000000"/>
                </a:solidFill>
              </a:rPr>
              <a:t>supprimer</a:t>
            </a:r>
            <a:r>
              <a:rPr sz="1300" dirty="0">
                <a:solidFill>
                  <a:srgbClr val="000000"/>
                </a:solidFill>
              </a:rPr>
              <a:t>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084534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410788"/>
              </p:ext>
            </p:extLst>
          </p:nvPr>
        </p:nvGraphicFramePr>
        <p:xfrm>
          <a:off x="457200" y="4810760"/>
          <a:ext cx="11247120" cy="166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c_q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42030"/>
              </p:ext>
            </p:extLst>
          </p:nvPr>
        </p:nvGraphicFramePr>
        <p:xfrm>
          <a:off x="381000" y="4765597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0 (=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règle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2C8C5A"/>
                          </a:solidFill>
                        </a:rPr>
                        <a:t>Météorage</a:t>
                      </a:r>
                      <a:r>
                        <a:rPr sz="1300" b="1" dirty="0">
                          <a:solidFill>
                            <a:srgbClr val="2C8C5A"/>
                          </a:solidFill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02425" y="4617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14. Simulation operationnelle reelle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Timer = max(T_q, T_min). Reset si nouveau CG, lift si timer expire.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Un CG est détecté en zone 20 km autour
de l'aéroport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Prédiction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Le modèle calcule T_q(X) :
le temps d'attente recommandé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Décision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Si T_q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3804695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INCIDENT = CG &lt;3 km arrivant APRES notre levee predite.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Le plancher T_min est le levier operationnel : ne jamais lever avant T_min min.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T_min = 0  -&gt; modele pur (risque max, gain max).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T_min = 30 -&gt; baseline Meteorage (risque min, gain min).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T_min entre les deux : compromis.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Resultats — sweep T_min a q=0,95 sur 973 alertes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Compromis gain / risque CG : plus T_min est haut, moins de risque et moins de gain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T_min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Timer moyen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total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Gain/alerte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 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4,9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953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58,8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88,05 % (339/385)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17,6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505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31,1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33,77 % (130/385)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22,0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365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22,5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28,05 % (108/385)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26,2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 251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15,4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17,14 % ( 66/385) &lt;-- recommande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Compromis gain / risque CG : plus T_min est haut, moins de risque et moins de gain</a:t>
            </a:r>
          </a:p>
          <a:p>
            <a:r>
              <a:rPr sz="1300">
                <a:solidFill>
                  <a:srgbClr val="000000"/>
                </a:solidFill>
              </a:rPr>
              <a:t>   - Generation predictions.csv (1 pred / CG, confidence = S(30 min | X))</a:t>
            </a:r>
            <a:r>
              <a:rPr sz="1300" b="1">
                <a:solidFill>
                  <a:srgbClr val="A83232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Sweep theta : on garde les preds avec confidence &gt;= theta, min par alerte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Meilleur point operationnel : theta=0,95 → R=3,61 %, gain 26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Borne oracle (last CG connu, q=0,95) : R=0,60 %, gain ~330 h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  <a:p>
            <a:r>
              <a:rPr sz="1300">
                <a:solidFill>
                  <a:srgbClr val="000000"/>
                </a:solidFill>
              </a:rPr>
              <a:t>   - Baseline Meteorage 30 min : R=1,04 % (reference)</a:t>
            </a:r>
            <a:r>
              <a:rPr sz="1300" b="1">
                <a:solidFill>
                  <a:srgbClr val="2C8C5A"/>
                </a:solidFill>
              </a:rPr>
              <a:t/>
            </a:r>
            <a:r>
              <a:rPr sz="13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Detail par aeroport — q=0,95, T_min=25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Profils tres differents selon la dynamique des orages locaux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Aeroport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Timer moy.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Gain/alerte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total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11,5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16,28 % ( 7/43)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15,9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62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 7,38 % ( 9/122)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12,73 % ( 7/55)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25,7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16,0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24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26,92 % ( 7/26)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26,1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20,4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83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25,90 % (36/139)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Interpretation :</a:t>
            </a:r>
          </a:p>
          <a:p>
            <a:r>
              <a:rPr sz="1400">
                <a:solidFill>
                  <a:srgbClr val="000000"/>
                </a:solidFill>
              </a:rPr>
              <a:t>  - Bastia et Pise : orages denses et longs -&gt; plus de risque (~19 %).</a:t>
            </a:r>
          </a:p>
          <a:p>
            <a:r>
              <a:rPr sz="1400">
                <a:solidFill>
                  <a:srgbClr val="000000"/>
                </a:solidFill>
              </a:rPr>
              <a:t>  - Ajaccio : profil le plus calme -&gt; risque minimal (~9 %), gain modere.</a:t>
            </a:r>
          </a:p>
          <a:p>
            <a:r>
              <a:rPr sz="1400" b="1">
                <a:solidFill>
                  <a:srgbClr val="A83232"/>
                </a:solidFill>
              </a:rPr>
              <a:t>  - Toutes les alertes evaluees (973 au total).</a:t>
            </a:r>
          </a:p>
          <a:p>
            <a:r>
              <a:rPr sz="1400" b="1">
                <a:solidFill>
                  <a:srgbClr val="A83232"/>
                </a:solidFill>
              </a:rPr>
              <a:t/>
            </a:r>
          </a:p>
          <a:p>
            <a:r>
              <a:rPr sz="1400" b="1">
                <a:solidFill>
                  <a:srgbClr val="A83232"/>
                </a:solidFill>
              </a:rPr>
              <a:t>Le timer effectif moyen ~27 min est tres proche du T_min=25. Donc le modele</a:t>
            </a:r>
          </a:p>
          <a:p>
            <a:r>
              <a:rPr sz="1400" b="1">
                <a:solidFill>
                  <a:srgbClr val="A83232"/>
                </a:solidFill>
              </a:rPr>
              <a:t>est souvent appele a lever au plancher : preuve que sans T_min, le modele</a:t>
            </a:r>
          </a:p>
          <a:p>
            <a:r>
              <a:rPr sz="1400" b="1">
                <a:solidFill>
                  <a:srgbClr val="A83232"/>
                </a:solidFill>
              </a:rPr>
              <a:t>leverait beaucoup trop tot.</a:t>
            </a:r>
          </a:p>
          <a:p>
            <a:r>
              <a:rPr sz="1400" b="1">
                <a:solidFill>
                  <a:srgbClr val="A83232"/>
                </a:solidFill>
              </a:rPr>
              <a:t>Lecture (Pise_1319, q=0,95) : modele a predit 2,75 min, prochain CG a 35,78 min,</a:t>
            </a:r>
          </a:p>
          <a:p>
            <a:r>
              <a:rPr sz="1400" b="1">
                <a:solidFill>
                  <a:srgbClr val="A83232"/>
                </a:solidFill>
              </a:rPr>
              <a:t>  a 1,87 km. C'est un cas pedagogique, pas un incident operationnel.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entraine par MLE (gere la censure native)</a:t>
            </a:r>
          </a:p>
          <a:p>
            <a:pPr lvl="1">
              <a:spcAft>
                <a:spcPts val="400"/>
              </a:spcAft>
            </a:pPr>
            <a:r>
              <a:rPr sz="1300" b="0"/>
              <a:t>   . 17 variables dont rythme = 57 % du pouvoir predictif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monotonicite)</a:t>
            </a:r>
          </a:p>
          <a:p>
            <a:pPr>
              <a:spcAft>
                <a:spcPts val="400"/>
              </a:spcAft>
            </a:pPr>
            <a:r>
              <a:rPr sz="1500" b="0"/>
              <a:t>   . Simulation operationnelle reelle (timer CG par CG, plancher T_min)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C8C5A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- Ce qu'on gagne sur eval 2023-25 (973 alertes, q=0,95)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T_min=25 (RECOMMANDE) : 251 h gain, 17 % risque CG (66/385)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T_min=20 (agressif)   : 365 h gain, 28 % risque</a:t>
            </a:r>
          </a:p>
          <a:p>
            <a:pPr>
              <a:spcAft>
                <a:spcPts val="400"/>
              </a:spcAft>
            </a:pPr>
            <a:r>
              <a:rPr sz="1500" b="0"/>
              <a:t>   . T_min=30 (prudent)    : 136 h gain,  9 % risque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   . Baseline 30 min Meteorage : 0 h, 0 % (reference parfaite)</a:t>
            </a:r>
          </a:p>
          <a:p>
            <a:pPr lvl="1">
              <a:spcAft>
                <a:spcPts val="400"/>
              </a:spcAft>
            </a:pPr>
            <a:r>
              <a:rPr sz="1300" b="0"/>
              <a:t/>
            </a:r>
          </a:p>
          <a:p>
            <a:pPr lvl="1">
              <a:spcAft>
                <a:spcPts val="400"/>
              </a:spcAft>
            </a:pPr>
            <a:r>
              <a:rPr sz="1300" b="0"/>
              <a:t>- Limites assumees</a:t>
            </a:r>
          </a:p>
          <a:p>
            <a:pPr lvl="1">
              <a:spcAft>
                <a:spcPts val="400"/>
              </a:spcAft>
            </a:pPr>
            <a:r>
              <a:rPr sz="1300" b="0"/>
              <a:t>   . Sans plancher T_min, le modele leverait trop tot (88 % risque)</a:t>
            </a:r>
          </a:p>
          <a:p>
            <a:pPr lvl="1">
              <a:spcAft>
                <a:spcPts val="400"/>
              </a:spcAft>
            </a:pPr>
            <a:r>
              <a:rPr sz="1300" b="0"/>
              <a:t>   . Pour atteindre R &lt; 2 % : classifieur secondaire 'dernier CG' a developper</a:t>
            </a:r>
          </a:p>
          <a:p>
            <a:pPr lvl="1">
              <a:spcAft>
                <a:spcPts val="400"/>
              </a:spcAft>
            </a:pPr>
            <a:r>
              <a:rPr sz="1300" b="0"/>
              <a:t>   . Demo interactive permet d'inspecter chaque cas concret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2650</Words>
  <Application>Microsoft Office PowerPoint</Application>
  <PresentationFormat>Personnalisé</PresentationFormat>
  <Paragraphs>388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2026-05-21T19:20:53Z</dcterms:modified>
  <cp:category/>
</cp:coreProperties>
</file>