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1T19:20:51.831" v="18" actId="14734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51.831" v="18" actId="14734"/>
        <pc:sldMkLst>
          <pc:docMk/>
          <pc:sldMk cId="0" sldId="267"/>
        </pc:sldMkLst>
        <pc:spChg chg="mod">
          <ac:chgData name="Enrique Alves" userId="5d13ffe67fcee0a0" providerId="LiveId" clId="{6B2B118D-CA2E-4A9B-BC7D-9BAAFE503825}" dt="2026-05-21T19:20:45.072" v="15" actId="1076"/>
          <ac:spMkLst>
            <pc:docMk/>
            <pc:sldMk cId="0" sldId="267"/>
            <ac:spMk id="4" creationId="{00000000-0000-0000-0000-000000000000}"/>
          </ac:spMkLst>
        </pc:spChg>
        <pc:graphicFrameChg chg="modGraphic">
          <ac:chgData name="Enrique Alves" userId="5d13ffe67fcee0a0" providerId="LiveId" clId="{6B2B118D-CA2E-4A9B-BC7D-9BAAFE503825}" dt="2026-05-21T19:20:51.831" v="18" actId="14734"/>
          <ac:graphicFrameMkLst>
            <pc:docMk/>
            <pc:sldMk cId="0" sldId="267"/>
            <ac:graphicFrameMk id="7" creationId="{00000000-0000-0000-0000-000000000000}"/>
          </ac:graphicFrameMkLst>
        </pc:graphicFrameChg>
        <pc:picChg chg="mod">
          <ac:chgData name="Enrique Alves" userId="5d13ffe67fcee0a0" providerId="LiveId" clId="{6B2B118D-CA2E-4A9B-BC7D-9BAAFE503825}" dt="2026-05-21T19:20:47.831" v="16" actId="1076"/>
          <ac:picMkLst>
            <pc:docMk/>
            <pc:sldMk cId="0" sldId="267"/>
            <ac:picMk id="5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37.943" v="13" actId="1076"/>
        <pc:sldMkLst>
          <pc:docMk/>
          <pc:sldMk cId="0" sldId="268"/>
        </pc:sldMkLst>
        <pc:spChg chg="mod">
          <ac:chgData name="Enrique Alves" userId="5d13ffe67fcee0a0" providerId="LiveId" clId="{6B2B118D-CA2E-4A9B-BC7D-9BAAFE503825}" dt="2026-05-21T19:20:37.943" v="13" actId="1076"/>
          <ac:spMkLst>
            <pc:docMk/>
            <pc:sldMk cId="0" sldId="268"/>
            <ac:spMk id="7" creationId="{00000000-0000-0000-0000-000000000000}"/>
          </ac:spMkLst>
        </pc:spChg>
        <pc:graphicFrameChg chg="mod">
          <ac:chgData name="Enrique Alves" userId="5d13ffe67fcee0a0" providerId="LiveId" clId="{6B2B118D-CA2E-4A9B-BC7D-9BAAFE503825}" dt="2026-05-21T19:20:35.875" v="12" actId="1076"/>
          <ac:graphicFrameMkLst>
            <pc:docMk/>
            <pc:sldMk cId="0" sldId="268"/>
            <ac:graphicFrameMk id="6" creationId="{00000000-0000-0000-0000-000000000000}"/>
          </ac:graphicFrameMkLst>
        </pc:graphicFrameChg>
      </pc:sldChg>
      <pc:sldChg chg="modSp mod">
        <pc:chgData name="Enrique Alves" userId="5d13ffe67fcee0a0" providerId="LiveId" clId="{6B2B118D-CA2E-4A9B-BC7D-9BAAFE503825}" dt="2026-05-21T17:34:57.954" v="8" actId="1076"/>
        <pc:sldMkLst>
          <pc:docMk/>
          <pc:sldMk cId="0" sldId="270"/>
        </pc:sldMkLst>
        <pc:picChg chg="mod">
          <ac:chgData name="Enrique Alves" userId="5d13ffe67fcee0a0" providerId="LiveId" clId="{6B2B118D-CA2E-4A9B-BC7D-9BAAFE503825}" dt="2026-05-21T17:34:57.954" v="8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16683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 dirty="0">
                <a:solidFill>
                  <a:srgbClr val="2C8C5A"/>
                </a:solidFill>
              </a:rPr>
              <a:t>DÉFINITION : </a:t>
            </a:r>
            <a:r>
              <a:rPr sz="1500" b="1" dirty="0" err="1">
                <a:solidFill>
                  <a:srgbClr val="2C8C5A"/>
                </a:solidFill>
              </a:rPr>
              <a:t>Winsorization</a:t>
            </a:r>
            <a:endParaRPr sz="1500" b="1" dirty="0">
              <a:solidFill>
                <a:srgbClr val="2C8C5A"/>
              </a:solidFill>
            </a:endParaRPr>
          </a:p>
          <a:p>
            <a:r>
              <a:rPr sz="1300" dirty="0">
                <a:solidFill>
                  <a:srgbClr val="000000"/>
                </a:solidFill>
              </a:rPr>
              <a:t>On </a:t>
            </a:r>
            <a:r>
              <a:rPr sz="1300" dirty="0" err="1">
                <a:solidFill>
                  <a:srgbClr val="000000"/>
                </a:solidFill>
              </a:rPr>
              <a:t>remplace</a:t>
            </a:r>
            <a:r>
              <a:rPr sz="1300" dirty="0">
                <a:solidFill>
                  <a:srgbClr val="000000"/>
                </a:solidFill>
              </a:rPr>
              <a:t> les </a:t>
            </a:r>
            <a:r>
              <a:rPr sz="1300" dirty="0" err="1">
                <a:solidFill>
                  <a:srgbClr val="000000"/>
                </a:solidFill>
              </a:rPr>
              <a:t>valeurs</a:t>
            </a:r>
            <a:r>
              <a:rPr sz="1300" dirty="0">
                <a:solidFill>
                  <a:srgbClr val="000000"/>
                </a:solidFill>
              </a:rPr>
              <a:t> au-dessus du percentile 95 par la </a:t>
            </a:r>
            <a:r>
              <a:rPr sz="1300" dirty="0" err="1">
                <a:solidFill>
                  <a:srgbClr val="000000"/>
                </a:solidFill>
              </a:rPr>
              <a:t>valeur</a:t>
            </a:r>
            <a:r>
              <a:rPr sz="1300" dirty="0">
                <a:solidFill>
                  <a:srgbClr val="000000"/>
                </a:solidFill>
              </a:rPr>
              <a:t> du P95. Retire </a:t>
            </a:r>
            <a:r>
              <a:rPr sz="1300" dirty="0" err="1">
                <a:solidFill>
                  <a:srgbClr val="000000"/>
                </a:solidFill>
              </a:rPr>
              <a:t>l'effet</a:t>
            </a:r>
            <a:r>
              <a:rPr sz="1300" dirty="0">
                <a:solidFill>
                  <a:srgbClr val="000000"/>
                </a:solidFill>
              </a:rPr>
              <a:t> des outliers SANS les </a:t>
            </a:r>
            <a:r>
              <a:rPr sz="1300" dirty="0" err="1">
                <a:solidFill>
                  <a:srgbClr val="000000"/>
                </a:solidFill>
              </a:rPr>
              <a:t>supprimer</a:t>
            </a:r>
            <a:r>
              <a:rPr sz="1300" dirty="0">
                <a:solidFill>
                  <a:srgbClr val="000000"/>
                </a:solidFill>
              </a:rPr>
              <a:t>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084534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410788"/>
              </p:ext>
            </p:extLst>
          </p:nvPr>
        </p:nvGraphicFramePr>
        <p:xfrm>
          <a:off x="457200" y="4810760"/>
          <a:ext cx="11247120" cy="166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c_q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42030"/>
              </p:ext>
            </p:extLst>
          </p:nvPr>
        </p:nvGraphicFramePr>
        <p:xfrm>
          <a:off x="381000" y="4765597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0 (=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règle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Météorage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02425" y="4617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14. Le modèle en mode opérationnel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À chaque CG en zone 20 km, prédiction T_q dynamique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Un CG est détecté en zone 20 km autour
de l'aéroport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Prédiction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Le modèle calcule T_q(X) :
le temps d'attente recommandé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Décision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Si T_q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3804695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Le modèle a dit T_q minutes, mais le prochain CG arrive APRÈS et il est dangereux.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C'est exactement la règle Météorage 30 min, mais avec T_q adaptatif au contexte.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Résultats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Risque CG / 3 km vs baseline 30 min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Cible 1−q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Levées prématurées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Incidents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2 052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14,03 %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9,61 %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3,90 %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Baseline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1,04 %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Important : TROIS mesures complementaires</a:t>
            </a:r>
          </a:p>
          <a:p>
            <a:r>
              <a:rPr sz="1300">
                <a:solidFill>
                  <a:srgbClr val="000000"/>
                </a:solidFill>
              </a:rPr>
              <a:t>   - </a:t>
            </a:r>
            <a:r>
              <a:rPr sz="1300" b="1">
                <a:solidFill>
                  <a:srgbClr val="A83232"/>
                </a:solidFill>
              </a:rPr>
              <a:t>Mesure dynamique (ci-dessus, à chaque CG)</a:t>
            </a:r>
            <a:r>
              <a:rPr sz="1300">
                <a:solidFill>
                  <a:srgbClr val="000000"/>
                </a:solidFill>
              </a:rPr>
              <a:t> : 37 incidents à q=0,95 → 9,61 % → visualisables sur Streamlit</a:t>
            </a:r>
          </a:p>
          <a:p>
            <a:r>
              <a:rPr sz="1300">
                <a:solidFill>
                  <a:srgbClr val="000000"/>
                </a:solidFill>
              </a:rPr>
              <a:t>   - </a:t>
            </a:r>
            <a:r>
              <a:rPr sz="1300" b="1">
                <a:solidFill>
                  <a:srgbClr val="2C8C5A"/>
                </a:solidFill>
              </a:rPr>
              <a:t>Protocole officiel oracle (1 pred / last CG)</a:t>
            </a:r>
            <a:r>
              <a:rPr sz="1300">
                <a:solidFill>
                  <a:srgbClr val="000000"/>
                </a:solidFill>
              </a:rPr>
              <a:t> : 0,60 % de risque, gain ~330 h</a:t>
            </a:r>
          </a:p>
          <a:p>
            <a:r>
              <a:rPr sz="1300">
                <a:solidFill>
                  <a:srgbClr val="000000"/>
                </a:solidFill>
              </a:rPr>
              <a:t>   - </a:t>
            </a:r>
            <a:r>
              <a:rPr sz="1300" b="1">
                <a:solidFill>
                  <a:srgbClr val="2C8C5A"/>
                </a:solidFill>
              </a:rPr>
              <a:t>Protocole officiel sweep theta (realiste)</a:t>
            </a:r>
            <a:r>
              <a:rPr sz="1300">
                <a:solidFill>
                  <a:srgbClr val="000000"/>
                </a:solidFill>
              </a:rPr>
              <a:t> : min R = 3,61 % a theta=0,95, gain 26 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Cas concrets : où le modèle s'est trompé (q = 0,95)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37 incidents détectés en mode dynamique, visualisables un par un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T_q prédit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Distance prochain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Pise_1319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2,75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35,78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+33,03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1,87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12,93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45,87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+32,93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2,43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Ajaccio_905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7,56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37,23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+29,67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1,44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13,46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31,20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+17,74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0,65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Biarritz_776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1,97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Lecture pédagogue (1re ligne, Pise_1319) :</a:t>
            </a:r>
          </a:p>
          <a:p>
            <a:r>
              <a:rPr sz="1400">
                <a:solidFill>
                  <a:srgbClr val="000000"/>
                </a:solidFill>
              </a:rPr>
              <a:t>  Le modèle a prédit qu'aucun CG n'arriverait avant 2,75 min.</a:t>
            </a:r>
          </a:p>
          <a:p>
            <a:r>
              <a:rPr sz="1400">
                <a:solidFill>
                  <a:srgbClr val="000000"/>
                </a:solidFill>
              </a:rPr>
              <a:t>  En réalité, le prochain CG est arrivé 35,78 min plus tard, à 1,87 km.</a:t>
            </a:r>
          </a:p>
          <a:p>
            <a:r>
              <a:rPr sz="1400" b="1">
                <a:solidFill>
                  <a:srgbClr val="A83232"/>
                </a:solidFill>
              </a:rPr>
              <a:t>  → Si on avait levé à 2,75 min, l'aéroport aurait été en opérations sol pendant 33 min avant qu'un CG dangereux frappe.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entraîné par MLE (gère la censure native), 17 variables dont rythme = 57 % du pouvoir prédictif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monotonicité) pour aligner risque annoncé et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Vérification non-paramétrique indépendante (G(A), risque empirique 3 km)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C8C5A"/>
                </a:solidFill>
              </a:rPr>
              <a:t>- Ce qu'on gagne (eval 2023-25, q = 0,95)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Protocole officiel : 0,60 % de risque sur la zone 3 km, gain ~330 heures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Mesure dynamique : 37 incidents visualisables dans la démo Streamlit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Baseline 30 min Météorage : 1,04 % de risque (référence)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Validation indépendante</a:t>
            </a:r>
          </a:p>
          <a:p>
            <a:pPr lvl="1">
              <a:spcAft>
                <a:spcPts val="400"/>
              </a:spcAft>
            </a:pPr>
            <a:r>
              <a:rPr sz="1300" b="0"/>
              <a:t>   . Risque empirique non-paramétrique cohérent avec le modèle paramétrique</a:t>
            </a:r>
          </a:p>
          <a:p>
            <a:pPr lvl="1">
              <a:spcAft>
                <a:spcPts val="400"/>
              </a:spcAft>
            </a:pPr>
            <a:r>
              <a:rPr sz="1300" b="0"/>
              <a:t>   . Démo interactive permet d'inspecter chaque cas concret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2650</Words>
  <Application>Microsoft Office PowerPoint</Application>
  <PresentationFormat>Personnalisé</PresentationFormat>
  <Paragraphs>388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2026-05-21T19:20:53Z</dcterms:modified>
  <cp:category/>
</cp:coreProperties>
</file>