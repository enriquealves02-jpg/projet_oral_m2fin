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Alves" userId="5d13ffe67fcee0a0" providerId="LiveId" clId="{6B2B118D-CA2E-4A9B-BC7D-9BAAFE503825}"/>
    <pc:docChg chg="modSld">
      <pc:chgData name="Enrique Alves" userId="5d13ffe67fcee0a0" providerId="LiveId" clId="{6B2B118D-CA2E-4A9B-BC7D-9BAAFE503825}" dt="2026-05-21T22:37:32.013" v="32" actId="20577"/>
      <pc:docMkLst>
        <pc:docMk/>
      </pc:docMkLst>
      <pc:sldChg chg="modSp mod">
        <pc:chgData name="Enrique Alves" userId="5d13ffe67fcee0a0" providerId="LiveId" clId="{6B2B118D-CA2E-4A9B-BC7D-9BAAFE503825}" dt="2026-05-21T17:34:36.150" v="4" actId="1076"/>
        <pc:sldMkLst>
          <pc:docMk/>
          <pc:sldMk cId="0" sldId="260"/>
        </pc:sldMkLst>
        <pc:picChg chg="mod">
          <ac:chgData name="Enrique Alves" userId="5d13ffe67fcee0a0" providerId="LiveId" clId="{6B2B118D-CA2E-4A9B-BC7D-9BAAFE503825}" dt="2026-05-21T17:34:27.035" v="1" actId="1076"/>
          <ac:picMkLst>
            <pc:docMk/>
            <pc:sldMk cId="0" sldId="260"/>
            <ac:picMk id="5" creationId="{00000000-0000-0000-0000-000000000000}"/>
          </ac:picMkLst>
        </pc:picChg>
        <pc:picChg chg="mod">
          <ac:chgData name="Enrique Alves" userId="5d13ffe67fcee0a0" providerId="LiveId" clId="{6B2B118D-CA2E-4A9B-BC7D-9BAAFE503825}" dt="2026-05-21T17:34:36.150" v="4" actId="1076"/>
          <ac:picMkLst>
            <pc:docMk/>
            <pc:sldMk cId="0" sldId="260"/>
            <ac:picMk id="6" creationId="{00000000-0000-0000-0000-000000000000}"/>
          </ac:picMkLst>
        </pc:picChg>
        <pc:picChg chg="mod">
          <ac:chgData name="Enrique Alves" userId="5d13ffe67fcee0a0" providerId="LiveId" clId="{6B2B118D-CA2E-4A9B-BC7D-9BAAFE503825}" dt="2026-05-21T17:34:31.545" v="3" actId="1076"/>
          <ac:picMkLst>
            <pc:docMk/>
            <pc:sldMk cId="0" sldId="260"/>
            <ac:picMk id="7" creationId="{00000000-0000-0000-0000-000000000000}"/>
          </ac:picMkLst>
        </pc:picChg>
      </pc:sldChg>
      <pc:sldChg chg="modSp mod">
        <pc:chgData name="Enrique Alves" userId="5d13ffe67fcee0a0" providerId="LiveId" clId="{6B2B118D-CA2E-4A9B-BC7D-9BAAFE503825}" dt="2026-05-21T17:34:44.834" v="7" actId="1076"/>
        <pc:sldMkLst>
          <pc:docMk/>
          <pc:sldMk cId="0" sldId="261"/>
        </pc:sldMkLst>
        <pc:picChg chg="mod">
          <ac:chgData name="Enrique Alves" userId="5d13ffe67fcee0a0" providerId="LiveId" clId="{6B2B118D-CA2E-4A9B-BC7D-9BAAFE503825}" dt="2026-05-21T17:34:44.834" v="7" actId="1076"/>
          <ac:picMkLst>
            <pc:docMk/>
            <pc:sldMk cId="0" sldId="261"/>
            <ac:picMk id="9" creationId="{00000000-0000-0000-0000-000000000000}"/>
          </ac:picMkLst>
        </pc:picChg>
      </pc:sldChg>
      <pc:sldChg chg="modSp mod">
        <pc:chgData name="Enrique Alves" userId="5d13ffe67fcee0a0" providerId="LiveId" clId="{6B2B118D-CA2E-4A9B-BC7D-9BAAFE503825}" dt="2026-05-21T19:20:51.831" v="18" actId="14734"/>
        <pc:sldMkLst>
          <pc:docMk/>
          <pc:sldMk cId="0" sldId="267"/>
        </pc:sldMkLst>
        <pc:spChg chg="mod">
          <ac:chgData name="Enrique Alves" userId="5d13ffe67fcee0a0" providerId="LiveId" clId="{6B2B118D-CA2E-4A9B-BC7D-9BAAFE503825}" dt="2026-05-21T19:20:45.072" v="15" actId="1076"/>
          <ac:spMkLst>
            <pc:docMk/>
            <pc:sldMk cId="0" sldId="267"/>
            <ac:spMk id="4" creationId="{00000000-0000-0000-0000-000000000000}"/>
          </ac:spMkLst>
        </pc:spChg>
        <pc:graphicFrameChg chg="modGraphic">
          <ac:chgData name="Enrique Alves" userId="5d13ffe67fcee0a0" providerId="LiveId" clId="{6B2B118D-CA2E-4A9B-BC7D-9BAAFE503825}" dt="2026-05-21T19:20:51.831" v="18" actId="14734"/>
          <ac:graphicFrameMkLst>
            <pc:docMk/>
            <pc:sldMk cId="0" sldId="267"/>
            <ac:graphicFrameMk id="7" creationId="{00000000-0000-0000-0000-000000000000}"/>
          </ac:graphicFrameMkLst>
        </pc:graphicFrameChg>
        <pc:picChg chg="mod">
          <ac:chgData name="Enrique Alves" userId="5d13ffe67fcee0a0" providerId="LiveId" clId="{6B2B118D-CA2E-4A9B-BC7D-9BAAFE503825}" dt="2026-05-21T19:20:47.831" v="16" actId="1076"/>
          <ac:picMkLst>
            <pc:docMk/>
            <pc:sldMk cId="0" sldId="267"/>
            <ac:picMk id="5" creationId="{00000000-0000-0000-0000-000000000000}"/>
          </ac:picMkLst>
        </pc:picChg>
      </pc:sldChg>
      <pc:sldChg chg="modSp mod">
        <pc:chgData name="Enrique Alves" userId="5d13ffe67fcee0a0" providerId="LiveId" clId="{6B2B118D-CA2E-4A9B-BC7D-9BAAFE503825}" dt="2026-05-21T19:20:37.943" v="13" actId="1076"/>
        <pc:sldMkLst>
          <pc:docMk/>
          <pc:sldMk cId="0" sldId="268"/>
        </pc:sldMkLst>
        <pc:spChg chg="mod">
          <ac:chgData name="Enrique Alves" userId="5d13ffe67fcee0a0" providerId="LiveId" clId="{6B2B118D-CA2E-4A9B-BC7D-9BAAFE503825}" dt="2026-05-21T19:20:37.943" v="13" actId="1076"/>
          <ac:spMkLst>
            <pc:docMk/>
            <pc:sldMk cId="0" sldId="268"/>
            <ac:spMk id="7" creationId="{00000000-0000-0000-0000-000000000000}"/>
          </ac:spMkLst>
        </pc:spChg>
        <pc:graphicFrameChg chg="mod">
          <ac:chgData name="Enrique Alves" userId="5d13ffe67fcee0a0" providerId="LiveId" clId="{6B2B118D-CA2E-4A9B-BC7D-9BAAFE503825}" dt="2026-05-21T19:20:35.875" v="12" actId="1076"/>
          <ac:graphicFrameMkLst>
            <pc:docMk/>
            <pc:sldMk cId="0" sldId="268"/>
            <ac:graphicFrameMk id="6" creationId="{00000000-0000-0000-0000-000000000000}"/>
          </ac:graphicFrameMkLst>
        </pc:graphicFrameChg>
      </pc:sldChg>
      <pc:sldChg chg="modSp mod">
        <pc:chgData name="Enrique Alves" userId="5d13ffe67fcee0a0" providerId="LiveId" clId="{6B2B118D-CA2E-4A9B-BC7D-9BAAFE503825}" dt="2026-05-21T17:34:57.954" v="8" actId="1076"/>
        <pc:sldMkLst>
          <pc:docMk/>
          <pc:sldMk cId="0" sldId="270"/>
        </pc:sldMkLst>
        <pc:picChg chg="mod">
          <ac:chgData name="Enrique Alves" userId="5d13ffe67fcee0a0" providerId="LiveId" clId="{6B2B118D-CA2E-4A9B-BC7D-9BAAFE503825}" dt="2026-05-21T17:34:57.954" v="8" actId="1076"/>
          <ac:picMkLst>
            <pc:docMk/>
            <pc:sldMk cId="0" sldId="270"/>
            <ac:picMk id="7" creationId="{00000000-0000-0000-0000-000000000000}"/>
          </ac:picMkLst>
        </pc:picChg>
      </pc:sldChg>
      <pc:sldChg chg="modSp mod">
        <pc:chgData name="Enrique Alves" userId="5d13ffe67fcee0a0" providerId="LiveId" clId="{6B2B118D-CA2E-4A9B-BC7D-9BAAFE503825}" dt="2026-05-21T22:37:32.013" v="32" actId="20577"/>
        <pc:sldMkLst>
          <pc:docMk/>
          <pc:sldMk cId="0" sldId="271"/>
        </pc:sldMkLst>
        <pc:graphicFrameChg chg="modGraphic">
          <ac:chgData name="Enrique Alves" userId="5d13ffe67fcee0a0" providerId="LiveId" clId="{6B2B118D-CA2E-4A9B-BC7D-9BAAFE503825}" dt="2026-05-21T22:37:32.013" v="32" actId="20577"/>
          <ac:graphicFrameMkLst>
            <pc:docMk/>
            <pc:sldMk cId="0" sldId="271"/>
            <ac:graphicFrameMk id="4" creationId="{00000000-0000-0000-0000-000000000000}"/>
          </ac:graphicFrameMkLst>
        </pc:graphicFrameChg>
      </pc:sldChg>
      <pc:sldChg chg="modSp mod">
        <pc:chgData name="Enrique Alves" userId="5d13ffe67fcee0a0" providerId="LiveId" clId="{6B2B118D-CA2E-4A9B-BC7D-9BAAFE503825}" dt="2026-05-21T17:35:12.258" v="11" actId="1076"/>
        <pc:sldMkLst>
          <pc:docMk/>
          <pc:sldMk cId="0" sldId="273"/>
        </pc:sldMkLst>
        <pc:spChg chg="mod">
          <ac:chgData name="Enrique Alves" userId="5d13ffe67fcee0a0" providerId="LiveId" clId="{6B2B118D-CA2E-4A9B-BC7D-9BAAFE503825}" dt="2026-05-21T17:35:06.091" v="9" actId="1076"/>
          <ac:spMkLst>
            <pc:docMk/>
            <pc:sldMk cId="0" sldId="273"/>
            <ac:spMk id="7" creationId="{00000000-0000-0000-0000-000000000000}"/>
          </ac:spMkLst>
        </pc:spChg>
        <pc:graphicFrameChg chg="mod modGraphic">
          <ac:chgData name="Enrique Alves" userId="5d13ffe67fcee0a0" providerId="LiveId" clId="{6B2B118D-CA2E-4A9B-BC7D-9BAAFE503825}" dt="2026-05-21T17:35:12.258" v="11" actId="1076"/>
          <ac:graphicFrameMkLst>
            <pc:docMk/>
            <pc:sldMk cId="0" sldId="273"/>
            <ac:graphicFrameMk id="6" creationId="{00000000-0000-0000-0000-000000000000}"/>
          </ac:graphicFrameMkLst>
        </pc:graphicFrame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Battle Météorage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>
                <a:solidFill>
                  <a:srgbClr val="FFFFFF"/>
                </a:solidFill>
              </a:rPr>
              <a:t>Réduire l'alerte orage de 30 min sans augmenter le risque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CCDDFF"/>
                </a:solidFill>
              </a:rPr>
              <a:t>Weibull AFT calibré + critère opérationnel CG / 3 km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937760"/>
            <a:ext cx="3657600" cy="1280160"/>
          </a:xfrm>
          <a:prstGeom prst="roundRect">
            <a:avLst/>
          </a:prstGeom>
          <a:solidFill>
            <a:srgbClr val="2C8C5A"/>
          </a:solidFill>
          <a:ln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16 min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à 10 % risque (gain 14 min)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937760"/>
            <a:ext cx="3657600" cy="128016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26 min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à 5 % risque (gain 4 min)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937760"/>
            <a:ext cx="3657600" cy="1280160"/>
          </a:xfrm>
          <a:prstGeom prst="roundRect">
            <a:avLst/>
          </a:prstGeom>
          <a:solidFill>
            <a:srgbClr val="A83232"/>
          </a:solidFill>
          <a:ln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30 min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à 1 % risque (règle Météorage)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1. 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La règle des 30 minutes est aveugle au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Comment fonctionne une alerte aujourd'hui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103120" cy="822960"/>
          </a:xfrm>
          <a:prstGeom prst="roundRect">
            <a:avLst/>
          </a:prstGeom>
          <a:solidFill>
            <a:srgbClr val="A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CG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2194560"/>
            <a:ext cx="2103120" cy="822960"/>
          </a:xfrm>
          <a:prstGeom prst="roundRect">
            <a:avLst/>
          </a:prstGeom>
          <a:solidFill>
            <a:srgbClr val="A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CG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9" y="2194560"/>
            <a:ext cx="2103120" cy="822960"/>
          </a:xfrm>
          <a:prstGeom prst="roundRect">
            <a:avLst/>
          </a:prstGeom>
          <a:solidFill>
            <a:srgbClr val="A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CG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194560"/>
            <a:ext cx="2103120" cy="822960"/>
          </a:xfrm>
          <a:prstGeom prst="roundRect">
            <a:avLst/>
          </a:prstGeom>
          <a:solidFill>
            <a:srgbClr val="D48A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... 30 min de silence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19" y="2194560"/>
            <a:ext cx="2103120" cy="822960"/>
          </a:xfrm>
          <a:prstGeom prst="roundRect">
            <a:avLst/>
          </a:prstGeom>
          <a:solidFill>
            <a:srgbClr val="2C8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Levée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1">
                <a:solidFill>
                  <a:srgbClr val="143656"/>
                </a:solidFill>
              </a:rPr>
              <a:t>→ Question : tous les orages ont-ils besoin de 30 min de marge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5760720" cy="1645920"/>
          </a:xfrm>
          <a:prstGeom prst="roundRect">
            <a:avLst/>
          </a:prstGeom>
          <a:solidFill>
            <a:srgbClr val="F0F0F0"/>
          </a:solidFill>
          <a:ln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000" b="1">
                <a:solidFill>
                  <a:srgbClr val="A83232"/>
                </a:solidFill>
              </a:rPr>
              <a:t>Trop court</a:t>
            </a:r>
          </a:p>
          <a:p>
            <a:r>
              <a:rPr sz="1400">
                <a:solidFill>
                  <a:srgbClr val="000000"/>
                </a:solidFill>
              </a:rPr>
              <a:t>Foudroiement du personnel ou d'un aéronef → INACCEPTABLE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97680"/>
            <a:ext cx="5760720" cy="1645920"/>
          </a:xfrm>
          <a:prstGeom prst="roundRect">
            <a:avLst/>
          </a:prstGeom>
          <a:solidFill>
            <a:srgbClr val="F0F0F0"/>
          </a:solidFill>
          <a:ln>
            <a:solidFill>
              <a:srgbClr val="D4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2000" b="1">
                <a:solidFill>
                  <a:srgbClr val="D48A1E"/>
                </a:solidFill>
              </a:rPr>
              <a:t>Trop long</a:t>
            </a:r>
          </a:p>
          <a:p>
            <a:r>
              <a:rPr sz="1400">
                <a:solidFill>
                  <a:srgbClr val="000000"/>
                </a:solidFill>
              </a:rPr>
              <a:t>Retards de vols, immobilisation au sol → coûteux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2. Notre approche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Prédire un temps d'attente adapté à chaque 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749039" cy="2286000"/>
          </a:xfrm>
          <a:prstGeom prst="round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2000" b="1">
                <a:solidFill>
                  <a:srgbClr val="FFFFFF"/>
                </a:solidFill>
              </a:rPr>
              <a:t>On observe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
Rythme des derniers éclairs, distance,
intensité, saison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749039" cy="2286000"/>
          </a:xfrm>
          <a:prstGeom prst="roundRect">
            <a:avLst/>
          </a:prstGeom>
          <a:solidFill>
            <a:srgbClr val="7B4F9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2000" b="1">
                <a:solidFill>
                  <a:srgbClr val="FFFFFF"/>
                </a:solidFill>
              </a:rPr>
              <a:t>Modèle Weibull AFT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
Estime la distribution du temps
jusqu'au prochain CG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20"/>
            <a:ext cx="3749039" cy="2286000"/>
          </a:xfrm>
          <a:prstGeom prst="roundRect">
            <a:avLst/>
          </a:prstGeom>
          <a:solidFill>
            <a:srgbClr val="2C8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2000" b="1">
                <a:solidFill>
                  <a:srgbClr val="FFFFFF"/>
                </a:solidFill>
              </a:rPr>
              <a:t>On décide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
Combien de minutes attendre
selon le risque cible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3656"/>
                </a:solidFill>
              </a:rPr>
              <a:t>Le client choisit son niveau de risque (paramètre q)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3200400" cy="1005840"/>
          </a:xfrm>
          <a:prstGeom prst="roundRect">
            <a:avLst/>
          </a:prstGeom>
          <a:solidFill>
            <a:srgbClr val="F0F0F0"/>
          </a:solidFill>
          <a:ln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C8C5A"/>
                </a:solidFill>
              </a:rPr>
              <a:t>Risque 10 %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agressif (1/10)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5029200"/>
            <a:ext cx="3200400" cy="1005840"/>
          </a:xfrm>
          <a:prstGeom prst="roundRect">
            <a:avLst/>
          </a:prstGeom>
          <a:solidFill>
            <a:srgbClr val="F0F0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Risque 5 %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compromis (1/20)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5029200"/>
            <a:ext cx="3200400" cy="1005840"/>
          </a:xfrm>
          <a:prstGeom prst="roundRect">
            <a:avLst/>
          </a:prstGeom>
          <a:solidFill>
            <a:srgbClr val="F0F0F0"/>
          </a:solidFill>
          <a:ln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A83232"/>
                </a:solidFill>
              </a:rPr>
              <a:t>Risque 1 %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sécurité max (1/100)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3. Les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2016-2022, 5 aéroports, 54 470 CG en zone d'alerte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4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>
                <a:solidFill>
                  <a:srgbClr val="D48A1E"/>
                </a:solidFill>
              </a:rPr>
              <a:t>DÉFINITION : Éclair CG (Cloud-to-Ground)</a:t>
            </a:r>
          </a:p>
          <a:p>
            <a:r>
              <a:rPr sz="1300">
                <a:solidFill>
                  <a:srgbClr val="000000"/>
                </a:solidFill>
              </a:rPr>
              <a:t>Éclair nuage-sol qui touche le sol et peut foudroyer. Les éclairs intra-nuage (icloud = True) sont exclus car ils ne déclenchent pas d'alerte selon la règle Météorage.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4320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Aéroport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Alertes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Ajaccio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10 647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Bastia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13 742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Biarritz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9 911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Nantes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4 378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Pise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15 792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8C5A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54 470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2 400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760720" y="2743200"/>
            <a:ext cx="5943600" cy="33832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Comment une alerte est définie</a:t>
            </a:r>
          </a:p>
          <a:p>
            <a:r>
              <a:rPr sz="1300" b="0">
                <a:solidFill>
                  <a:srgbClr val="000000"/>
                </a:solidFill>
              </a:rPr>
              <a:t>  - Un CG dans 20 km démarre une alerte</a:t>
            </a:r>
          </a:p>
          <a:p>
            <a:r>
              <a:rPr sz="1300" b="0">
                <a:solidFill>
                  <a:srgbClr val="000000"/>
                </a:solidFill>
              </a:rPr>
              <a:t>  - Toute l'alerte = série de CG espacés de moins de 30 min</a:t>
            </a:r>
          </a:p>
          <a:p>
            <a:r>
              <a:rPr sz="1300" b="0">
                <a:solidFill>
                  <a:srgbClr val="000000"/>
                </a:solidFill>
              </a:rPr>
              <a:t>  - L'alerte se ferme 30 min après le dernier CG</a:t>
            </a:r>
          </a:p>
          <a:p>
            <a:r>
              <a:rPr sz="1300" b="0">
                <a:solidFill>
                  <a:srgbClr val="000000"/>
                </a:solidFill>
              </a:rPr>
              <a:t>  - Un nouveau CG plus tard = NOUVELLE alerte</a:t>
            </a:r>
          </a:p>
          <a:p>
            <a:endParaRPr sz="1300" b="0">
              <a:solidFill>
                <a:srgbClr val="000000"/>
              </a:solidFill>
            </a:endParaRPr>
          </a:p>
          <a:p>
            <a:r>
              <a:rPr sz="1300" b="1">
                <a:solidFill>
                  <a:srgbClr val="000000"/>
                </a:solidFill>
              </a:rPr>
              <a:t>Implication fondamentale :</a:t>
            </a:r>
          </a:p>
          <a:p>
            <a:r>
              <a:rPr sz="1300" b="0">
                <a:solidFill>
                  <a:srgbClr val="000000"/>
                </a:solidFill>
              </a:rPr>
              <a:t>  - Gaps intra-alerte &lt; 30 min par construction</a:t>
            </a:r>
          </a:p>
          <a:p>
            <a:r>
              <a:rPr sz="1300" b="0">
                <a:solidFill>
                  <a:srgbClr val="000000"/>
                </a:solidFill>
              </a:rPr>
              <a:t>  - On ne peut pas observer les gaps &gt; 30 min</a:t>
            </a:r>
          </a:p>
          <a:p>
            <a:r>
              <a:rPr sz="1300" b="1">
                <a:solidFill>
                  <a:srgbClr val="000000"/>
                </a:solidFill>
              </a:rPr>
              <a:t>  - → CENSURE À DROITE des données à 30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4. Le modèle Weibull AFT — formules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Une loi de probabilité paramétrée par lambda (échelle) et k (forme)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4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>
                <a:solidFill>
                  <a:srgbClr val="D48A1E"/>
                </a:solidFill>
              </a:rPr>
              <a:t>DÉFINITION : Modèle AFT (Accelerated Failure Time)</a:t>
            </a:r>
          </a:p>
          <a:p>
            <a:r>
              <a:rPr sz="1300">
                <a:solidFill>
                  <a:srgbClr val="000000"/>
                </a:solidFill>
              </a:rPr>
              <a:t>Modèle où les variables explicatives X agissent en multipliant le temps caractéristique λ. Si une variable augmente, λ augmente proportionnellement → l'éclair suivant arrive plus tard.</a:t>
            </a:r>
          </a:p>
        </p:txBody>
      </p:sp>
      <p:pic>
        <p:nvPicPr>
          <p:cNvPr id="5" name="Picture 4" descr="formul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452" y="2286000"/>
            <a:ext cx="8757920" cy="1048662"/>
          </a:xfrm>
          <a:prstGeom prst="rect">
            <a:avLst/>
          </a:prstGeom>
        </p:spPr>
      </p:pic>
      <p:pic>
        <p:nvPicPr>
          <p:cNvPr id="6" name="Picture 5" descr="formula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333" y="3356787"/>
            <a:ext cx="9418320" cy="1148004"/>
          </a:xfrm>
          <a:prstGeom prst="rect">
            <a:avLst/>
          </a:prstGeom>
        </p:spPr>
      </p:pic>
      <p:pic>
        <p:nvPicPr>
          <p:cNvPr id="7" name="Picture 6" descr="formula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266" y="4526917"/>
            <a:ext cx="4719320" cy="9594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03520"/>
            <a:ext cx="5760720" cy="1280160"/>
          </a:xfrm>
          <a:prstGeom prst="roundRect">
            <a:avLst/>
          </a:prstGeom>
          <a:solidFill>
            <a:srgbClr val="F0F0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1F4E79"/>
                </a:solidFill>
              </a:rPr>
              <a:t>λ — échelle (en min)</a:t>
            </a:r>
          </a:p>
          <a:p>
            <a:r>
              <a:rPr sz="1200">
                <a:solidFill>
                  <a:srgbClr val="000000"/>
                </a:solidFill>
              </a:rPr>
              <a:t>Temps caractéristique : si λ = 2,
le prochain éclair arrive ≈ 2 min en moyenne.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303520"/>
            <a:ext cx="5760720" cy="1280160"/>
          </a:xfrm>
          <a:prstGeom prst="roundRect">
            <a:avLst/>
          </a:prstGeom>
          <a:solidFill>
            <a:srgbClr val="F0F0F0"/>
          </a:solidFill>
          <a:ln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1500" b="1">
                <a:solidFill>
                  <a:srgbClr val="A83232"/>
                </a:solidFill>
              </a:rPr>
              <a:t>k — forme (sans unité)</a:t>
            </a:r>
          </a:p>
          <a:p>
            <a:r>
              <a:rPr sz="1200">
                <a:solidFill>
                  <a:srgbClr val="000000"/>
                </a:solidFill>
              </a:rPr>
              <a:t>Sur nos données : k = 0,745 &lt; 1
→ hazard décroissant : un orage qui s'éteint.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5. Apprentissage par maximum de vraisemblance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On ajuste β et k pour maximiser la probabilité des données observées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4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>
                <a:solidFill>
                  <a:srgbClr val="D48A1E"/>
                </a:solidFill>
              </a:rPr>
              <a:t>DÉFINITION : Maximum de vraisemblance (MLE)</a:t>
            </a:r>
          </a:p>
          <a:p>
            <a:r>
              <a:rPr sz="1300">
                <a:solidFill>
                  <a:srgbClr val="000000"/>
                </a:solidFill>
              </a:rPr>
              <a:t>On choisit les paramètres qui rendent les données les plus probables selon le modèle. lifelines.fit() le fait automatiquement par optimisation numérique.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5760720" cy="2194560"/>
          </a:xfrm>
          <a:prstGeom prst="roundRect">
            <a:avLst/>
          </a:prstGeom>
          <a:solidFill>
            <a:srgbClr val="F0F0F0"/>
          </a:solidFill>
          <a:ln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500" b="1">
                <a:solidFill>
                  <a:srgbClr val="2C8C5A"/>
                </a:solidFill>
              </a:rPr>
              <a:t>CAS 1 : event = 1</a:t>
            </a:r>
          </a:p>
          <a:p>
            <a:r>
              <a:rPr sz="1200">
                <a:solidFill>
                  <a:srgbClr val="000000"/>
                </a:solidFill>
              </a:rPr>
              <a:t>Éclair non-dernier : on observe tᵢ
jusqu'au prochain CG.
Densité forte en tᵢ.</a:t>
            </a:r>
          </a:p>
        </p:txBody>
      </p:sp>
      <p:pic>
        <p:nvPicPr>
          <p:cNvPr id="6" name="Picture 5" descr="formula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023360"/>
            <a:ext cx="3017520" cy="9842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2468880"/>
            <a:ext cx="5760720" cy="2194560"/>
          </a:xfrm>
          <a:prstGeom prst="roundRect">
            <a:avLst/>
          </a:prstGeom>
          <a:solidFill>
            <a:srgbClr val="F0F0F0"/>
          </a:solidFill>
          <a:ln>
            <a:solidFill>
              <a:srgbClr val="D4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500" b="1">
                <a:solidFill>
                  <a:srgbClr val="D48A1E"/>
                </a:solidFill>
              </a:rPr>
              <a:t>CAS 2 : event = 0 (censure)</a:t>
            </a:r>
          </a:p>
          <a:p>
            <a:r>
              <a:rPr sz="1200">
                <a:solidFill>
                  <a:srgbClr val="000000"/>
                </a:solidFill>
              </a:rPr>
              <a:t>Dernier CG de l'alerte :
aucun éclair pendant 30 min.
Le modèle voit le 'silence final'.</a:t>
            </a:r>
          </a:p>
        </p:txBody>
      </p:sp>
      <p:pic>
        <p:nvPicPr>
          <p:cNvPr id="8" name="Picture 7" descr="formula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023360"/>
            <a:ext cx="3017520" cy="924723"/>
          </a:xfrm>
          <a:prstGeom prst="rect">
            <a:avLst/>
          </a:prstGeom>
        </p:spPr>
      </p:pic>
      <p:pic>
        <p:nvPicPr>
          <p:cNvPr id="9" name="Picture 8" descr="formula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59" y="4948083"/>
            <a:ext cx="10718905" cy="18360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6. Feature engineering — 17 variables contextuelles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Le rythme passé de l'orage est le signal le plus discriminant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743200" cy="2011680"/>
          </a:xfrm>
          <a:prstGeom prst="round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Rythme</a:t>
            </a:r>
          </a:p>
          <a:p>
            <a:pPr algn="ctr"/>
            <a:r>
              <a:rPr sz="1200" i="1">
                <a:solidFill>
                  <a:srgbClr val="FFFFFF"/>
                </a:solidFill>
              </a:rPr>
              <a:t>6 variables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
prev_gap, rolling_gap_3,
rolling_gap_5, cg_rank,
time_since_start, trend_gap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645920"/>
            <a:ext cx="2743200" cy="2011680"/>
          </a:xfrm>
          <a:prstGeom prst="roundRect">
            <a:avLst/>
          </a:prstGeom>
          <a:solidFill>
            <a:srgbClr val="2C8C5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Distance</a:t>
            </a:r>
          </a:p>
          <a:p>
            <a:pPr algn="ctr"/>
            <a:r>
              <a:rPr sz="1200" i="1">
                <a:solidFill>
                  <a:srgbClr val="FFFFFF"/>
                </a:solidFill>
              </a:rPr>
              <a:t>3 variables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
dist_current,
dist_cum_mean,
dist_diff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2743200" cy="2011680"/>
          </a:xfrm>
          <a:prstGeom prst="roundRect">
            <a:avLst/>
          </a:prstGeom>
          <a:solidFill>
            <a:srgbClr val="A8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Intensité</a:t>
            </a:r>
          </a:p>
          <a:p>
            <a:pPr algn="ctr"/>
            <a:r>
              <a:rPr sz="1200" i="1">
                <a:solidFill>
                  <a:srgbClr val="FFFFFF"/>
                </a:solidFill>
              </a:rPr>
              <a:t>4 variables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
amp_abs, amp_cum_mean,
is_negative, pct_neg_cum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645920"/>
            <a:ext cx="2743200" cy="2011680"/>
          </a:xfrm>
          <a:prstGeom prst="roundRect">
            <a:avLst/>
          </a:prstGeom>
          <a:solidFill>
            <a:srgbClr val="7B4F9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Saisonnalité</a:t>
            </a:r>
          </a:p>
          <a:p>
            <a:pPr algn="ctr"/>
            <a:r>
              <a:rPr sz="1200" i="1">
                <a:solidFill>
                  <a:srgbClr val="FFFFFF"/>
                </a:solidFill>
              </a:rPr>
              <a:t>4 variables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
month_sin / month_cos
hour_sin / hour_cos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112471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4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>
                <a:solidFill>
                  <a:srgbClr val="D48A1E"/>
                </a:solidFill>
              </a:rPr>
              <a:t>DÉFINITION : rolling_gap_5 (variable dominante, β = +0,354)</a:t>
            </a:r>
          </a:p>
          <a:p>
            <a:r>
              <a:rPr sz="1300">
                <a:solidFill>
                  <a:srgbClr val="000000"/>
                </a:solidFill>
              </a:rPr>
              <a:t>Moyenne mobile des gaps entre les 5 derniers CG.  Petit (&lt; 1 min) → orage actif → T_q court. Grand (&gt; 4 min) → orage qui se calme → T_q long.</a:t>
            </a:r>
          </a:p>
        </p:txBody>
      </p:sp>
      <p:pic>
        <p:nvPicPr>
          <p:cNvPr id="9" name="Picture 8" descr="formula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029200"/>
            <a:ext cx="9418320" cy="10997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7. Pourquoi pas juste une moyenne par aéroport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Comparaison de 5 approches, du plus simple au plus sophistiqué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7B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>
                <a:solidFill>
                  <a:srgbClr val="7B4F9C"/>
                </a:solidFill>
              </a:rPr>
              <a:t>DÉFINITION : C-index (Concordance index)</a:t>
            </a:r>
          </a:p>
          <a:p>
            <a:r>
              <a:rPr sz="1300">
                <a:solidFill>
                  <a:srgbClr val="000000"/>
                </a:solidFill>
              </a:rPr>
              <a:t>Mesure la capacité d'un modèle à ORDONNER 2 observations selon leur vraie durée. 0,50 = aléatoire. 1,00 = parfait. 0,70+ = bon modèle.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46888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Approche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C-index test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Lecture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1. Constant (médiane globale)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0,5000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pas de discrimination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2. Médiane par aéroport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0,5459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distingue les aéroports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3. P95 empirique par aéroport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0,5424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biaisé par la censure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4. Weibull AFT (dummies aéroport)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0,5456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sans contexte par éclair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8C5A"/>
                          </a:solidFill>
                        </a:rPr>
                        <a:t>5. Weibull AFT + 17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0,7432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+20 points -- adaptation au contexte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3656"/>
                </a:solidFill>
              </a:rPr>
              <a:t>Les baselines simples plafonnent à ~0,55. Notre modèle atteint 0,74 grâce au contexte par éclair.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8. Exemple concret : 2 orages au même aéroport (Ajaccio)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Le Weibull AFT s'adapte. Une moyenne donnerait le même nombre.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760720" cy="2743200"/>
          </a:xfrm>
          <a:prstGeom prst="roundRect">
            <a:avLst/>
          </a:prstGeom>
          <a:solidFill>
            <a:srgbClr val="F0F0F0"/>
          </a:solidFill>
          <a:ln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/>
            <a:r>
              <a:rPr sz="1800" b="1">
                <a:solidFill>
                  <a:srgbClr val="A83232"/>
                </a:solidFill>
              </a:rPr>
              <a:t>Orage A — encore actif</a:t>
            </a:r>
          </a:p>
          <a:p>
            <a:r>
              <a:rPr sz="1400">
                <a:solidFill>
                  <a:srgbClr val="000000"/>
                </a:solidFill>
              </a:rPr>
              <a:t>Contexte au dernier CG observé :
• rolling_gap_5 = 2,07 min (orage dense)
• Distance = 18,9 km
• cg_rank = 49 (orage long)</a:t>
            </a:r>
          </a:p>
        </p:txBody>
      </p:sp>
      <p:pic>
        <p:nvPicPr>
          <p:cNvPr id="5" name="Picture 4" descr="formula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480560"/>
            <a:ext cx="3017520" cy="8215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554480"/>
            <a:ext cx="5760720" cy="2743200"/>
          </a:xfrm>
          <a:prstGeom prst="roundRect">
            <a:avLst/>
          </a:prstGeom>
          <a:solidFill>
            <a:srgbClr val="F0F0F0"/>
          </a:solidFill>
          <a:ln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/>
            <a:r>
              <a:rPr sz="1800" b="1">
                <a:solidFill>
                  <a:srgbClr val="2C8C5A"/>
                </a:solidFill>
              </a:rPr>
              <a:t>Orage B — qui se calme</a:t>
            </a:r>
          </a:p>
          <a:p>
            <a:r>
              <a:rPr sz="1400">
                <a:solidFill>
                  <a:srgbClr val="000000"/>
                </a:solidFill>
              </a:rPr>
              <a:t>Contexte au dernier CG observé :
• rolling_gap_5 = 5,53 min (lent)
• Distance = 10,0 km
• cg_rank = 12 (orage court)</a:t>
            </a:r>
          </a:p>
        </p:txBody>
      </p:sp>
      <p:pic>
        <p:nvPicPr>
          <p:cNvPr id="7" name="Picture 6" descr="formula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480560"/>
            <a:ext cx="3017520" cy="8215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i="1">
                <a:solidFill>
                  <a:srgbClr val="595959"/>
                </a:solidFill>
              </a:rPr>
              <a:t>Médiane Ajaccio = 0,48 min POUR LES DEUX → moyenne incapable de distinguer</a:t>
            </a:r>
          </a:p>
          <a:p>
            <a:pPr algn="ctr"/>
            <a:r>
              <a:rPr sz="1500" b="1">
                <a:solidFill>
                  <a:srgbClr val="2C8C5A"/>
                </a:solidFill>
              </a:rPr>
              <a:t>Le Weibull AFT prédit 18,6 vs 99,7 min : adaptation au contexte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9. Le rythme concentre 57 % du pouvoir prédictif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Importance totale par catégorie (somme des |β| standardisés)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Catégorie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Importance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Lecture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8C5A"/>
                          </a:solidFill>
                        </a:rPr>
                        <a:t>Rythme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57 %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rolling_gap_5/3, cg_rank, prev_gap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Saisonnalité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month_sin/cos, hour_sin/cos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Aéroport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effet géographique (dummies)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dist_current, dist_cum_mean, dist_diff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Intensité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amp_abs, polarité, % négatifs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Top 4 coefficients (|β|)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4E79"/>
                </a:solidFill>
              </a:rPr>
              <a:t>   - rolling_gap_5 = +0,354    →  λ × exp(+0,354) ≈ ×1,42 (allonge T_q)</a:t>
            </a:r>
          </a:p>
          <a:p>
            <a:r>
              <a:rPr sz="1300">
                <a:solidFill>
                  <a:srgbClr val="A83232"/>
                </a:solidFill>
              </a:rPr>
              <a:t>   - cg_rank = −0,373            →  plus on est tard dans l'orage, plus T_q est court</a:t>
            </a:r>
          </a:p>
          <a:p>
            <a:r>
              <a:rPr sz="1300">
                <a:solidFill>
                  <a:srgbClr val="1F4E79"/>
                </a:solidFill>
              </a:rPr>
              <a:t>   - rolling_gap_3 = +0,255    →  signal plus court mais cohérent avec rolling_gap_5</a:t>
            </a:r>
          </a:p>
          <a:p>
            <a:r>
              <a:rPr sz="1300">
                <a:solidFill>
                  <a:srgbClr val="7B4F9C"/>
                </a:solidFill>
              </a:rPr>
              <a:t>   - month_cos / month_sin     →  saisonnalité (5e et 6e en importance)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10. Le piège : on annonce 1 %, on a 6 % en réalité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Le modèle Weibull seul n'est pas déployable tel quel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0058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>
                <a:solidFill>
                  <a:srgbClr val="A83232"/>
                </a:solidFill>
              </a:rPr>
              <a:t>DÉFINITION : Calibration des quantiles</a:t>
            </a:r>
          </a:p>
          <a:p>
            <a:r>
              <a:rPr sz="1300">
                <a:solidFill>
                  <a:srgbClr val="000000"/>
                </a:solidFill>
              </a:rPr>
              <a:t>Un modèle est BIEN CALIBRÉ si la fréquence empirique d'événements correspond à la probabilité annoncée. Ex : si on annonce T_99 (1 % de risque), seuls 1 % des observations doivent dépasser T_99.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2743200"/>
          <a:ext cx="8503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Risque annoncé</a:t>
                      </a:r>
                    </a:p>
                  </a:txBody>
                  <a:tcPr>
                    <a:solidFill>
                      <a:srgbClr val="A83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Risque réel observé</a:t>
                      </a:r>
                    </a:p>
                  </a:txBody>
                  <a:tcPr>
                    <a:solidFill>
                      <a:srgbClr val="A832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Écart</a:t>
                      </a:r>
                    </a:p>
                  </a:txBody>
                  <a:tcPr>
                    <a:solidFill>
                      <a:srgbClr val="A83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×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×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8C5A"/>
                          </a:solidFill>
                        </a:rPr>
                        <a:t>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×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83232"/>
                </a:solidFill>
              </a:rPr>
              <a:t>Pourquoi ?</a:t>
            </a:r>
          </a:p>
          <a:p>
            <a:r>
              <a:rPr sz="1400">
                <a:solidFill>
                  <a:srgbClr val="000000"/>
                </a:solidFill>
              </a:rPr>
              <a:t>  La queue de Weibull décroît comme exp(−(t/λ)^k) — c'est rapide.</a:t>
            </a:r>
          </a:p>
          <a:p>
            <a:r>
              <a:rPr sz="1400">
                <a:solidFill>
                  <a:srgbClr val="000000"/>
                </a:solidFill>
              </a:rPr>
              <a:t>  Mais les vrais longs silences entre CG sont encore PLUS LONGS que ce que Weibull prédit.</a:t>
            </a:r>
          </a:p>
          <a:p>
            <a:r>
              <a:rPr sz="1400" b="1">
                <a:solidFill>
                  <a:srgbClr val="A83232"/>
                </a:solidFill>
              </a:rPr>
              <a:t>  → Weibull est trop optimiste sur les extrêmes.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11. Solution : winsorization + monotonicité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Calibration empirique robuste post-hoc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16683"/>
            <a:ext cx="112471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 dirty="0">
                <a:solidFill>
                  <a:srgbClr val="2C8C5A"/>
                </a:solidFill>
              </a:rPr>
              <a:t>DÉFINITION : </a:t>
            </a:r>
            <a:r>
              <a:rPr sz="1500" b="1" dirty="0" err="1">
                <a:solidFill>
                  <a:srgbClr val="2C8C5A"/>
                </a:solidFill>
              </a:rPr>
              <a:t>Winsorization</a:t>
            </a:r>
            <a:endParaRPr sz="1500" b="1" dirty="0">
              <a:solidFill>
                <a:srgbClr val="2C8C5A"/>
              </a:solidFill>
            </a:endParaRPr>
          </a:p>
          <a:p>
            <a:r>
              <a:rPr sz="1300" dirty="0">
                <a:solidFill>
                  <a:srgbClr val="000000"/>
                </a:solidFill>
              </a:rPr>
              <a:t>On </a:t>
            </a:r>
            <a:r>
              <a:rPr sz="1300" dirty="0" err="1">
                <a:solidFill>
                  <a:srgbClr val="000000"/>
                </a:solidFill>
              </a:rPr>
              <a:t>remplace</a:t>
            </a:r>
            <a:r>
              <a:rPr sz="1300" dirty="0">
                <a:solidFill>
                  <a:srgbClr val="000000"/>
                </a:solidFill>
              </a:rPr>
              <a:t> les </a:t>
            </a:r>
            <a:r>
              <a:rPr sz="1300" dirty="0" err="1">
                <a:solidFill>
                  <a:srgbClr val="000000"/>
                </a:solidFill>
              </a:rPr>
              <a:t>valeurs</a:t>
            </a:r>
            <a:r>
              <a:rPr sz="1300" dirty="0">
                <a:solidFill>
                  <a:srgbClr val="000000"/>
                </a:solidFill>
              </a:rPr>
              <a:t> au-dessus du percentile 95 par la </a:t>
            </a:r>
            <a:r>
              <a:rPr sz="1300" dirty="0" err="1">
                <a:solidFill>
                  <a:srgbClr val="000000"/>
                </a:solidFill>
              </a:rPr>
              <a:t>valeur</a:t>
            </a:r>
            <a:r>
              <a:rPr sz="1300" dirty="0">
                <a:solidFill>
                  <a:srgbClr val="000000"/>
                </a:solidFill>
              </a:rPr>
              <a:t> du P95. Retire </a:t>
            </a:r>
            <a:r>
              <a:rPr sz="1300" dirty="0" err="1">
                <a:solidFill>
                  <a:srgbClr val="000000"/>
                </a:solidFill>
              </a:rPr>
              <a:t>l'effet</a:t>
            </a:r>
            <a:r>
              <a:rPr sz="1300" dirty="0">
                <a:solidFill>
                  <a:srgbClr val="000000"/>
                </a:solidFill>
              </a:rPr>
              <a:t> des outliers SANS les </a:t>
            </a:r>
            <a:r>
              <a:rPr sz="1300" dirty="0" err="1">
                <a:solidFill>
                  <a:srgbClr val="000000"/>
                </a:solidFill>
              </a:rPr>
              <a:t>supprimer</a:t>
            </a:r>
            <a:r>
              <a:rPr sz="130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5" name="Picture 4" descr="formula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84534"/>
            <a:ext cx="6675120" cy="1298746"/>
          </a:xfrm>
          <a:prstGeom prst="rect">
            <a:avLst/>
          </a:prstGeom>
        </p:spPr>
      </p:pic>
      <p:pic>
        <p:nvPicPr>
          <p:cNvPr id="6" name="Picture 5" descr="formula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383280"/>
            <a:ext cx="6675120" cy="139100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410788"/>
              </p:ext>
            </p:extLst>
          </p:nvPr>
        </p:nvGraphicFramePr>
        <p:xfrm>
          <a:off x="457200" y="4810760"/>
          <a:ext cx="11247120" cy="166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rgbClr val="2C8C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c_q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 brut</a:t>
                      </a:r>
                    </a:p>
                  </a:txBody>
                  <a:tcPr>
                    <a:solidFill>
                      <a:srgbClr val="2C8C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c_q winsorisé</a:t>
                      </a:r>
                    </a:p>
                  </a:txBody>
                  <a:tcPr>
                    <a:solidFill>
                      <a:srgbClr val="2C8C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c_q final (monotone)</a:t>
                      </a:r>
                    </a:p>
                  </a:txBody>
                  <a:tcPr>
                    <a:solidFill>
                      <a:srgbClr val="2C8C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1,82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1,82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1,82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2,02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8C5A"/>
                          </a:solidFill>
                        </a:rPr>
                        <a:t>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2,82 (outliers)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1,13 (&lt; c_95 !)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C8C5A"/>
                          </a:solidFill>
                        </a:rPr>
                        <a:t>2,02 (= c_95)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12. Vérification empirique non-paramétrique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Sans modèle : pour chaque alerte, max silence intra-alerte G(A)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4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>
                <a:solidFill>
                  <a:srgbClr val="D48A1E"/>
                </a:solidFill>
              </a:rPr>
              <a:t>DÉFINITION : G(A) = plus grand silence intra-alerte</a:t>
            </a:r>
          </a:p>
          <a:p>
            <a:r>
              <a:rPr sz="1300">
                <a:solidFill>
                  <a:srgbClr val="000000"/>
                </a:solidFill>
              </a:rPr>
              <a:t>Pour chaque alerte A avec CG aux instants t_1 &lt; t_2 &lt; ... &lt; t_n, Δᵢ = tᵢ₊₁ − tᵢ et G(A) = max(Δᵢ).</a:t>
            </a:r>
          </a:p>
        </p:txBody>
      </p:sp>
      <p:pic>
        <p:nvPicPr>
          <p:cNvPr id="5" name="Picture 4" descr="formula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11247120" cy="21358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942030"/>
              </p:ext>
            </p:extLst>
          </p:nvPr>
        </p:nvGraphicFramePr>
        <p:xfrm>
          <a:off x="381000" y="4765597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Tolérance α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T*(α)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Gain vs 30 min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28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+2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8C5A"/>
                          </a:solidFill>
                        </a:rPr>
                        <a:t>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C8C5A"/>
                          </a:solidFill>
                        </a:rPr>
                        <a:t>0 (= </a:t>
                      </a:r>
                      <a:r>
                        <a:rPr sz="1300" b="1" dirty="0" err="1">
                          <a:solidFill>
                            <a:srgbClr val="2C8C5A"/>
                          </a:solidFill>
                        </a:rPr>
                        <a:t>règle</a:t>
                      </a:r>
                      <a:r>
                        <a:rPr sz="1300" b="1" dirty="0">
                          <a:solidFill>
                            <a:srgbClr val="2C8C5A"/>
                          </a:solidFill>
                        </a:rPr>
                        <a:t> </a:t>
                      </a:r>
                      <a:r>
                        <a:rPr sz="1300" b="1" dirty="0" err="1">
                          <a:solidFill>
                            <a:srgbClr val="2C8C5A"/>
                          </a:solidFill>
                        </a:rPr>
                        <a:t>Météorage</a:t>
                      </a:r>
                      <a:r>
                        <a:rPr sz="1300" b="1" dirty="0">
                          <a:solidFill>
                            <a:srgbClr val="2C8C5A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02425" y="4617720"/>
            <a:ext cx="5029200" cy="20116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600" b="1">
                <a:solidFill>
                  <a:srgbClr val="2C8C5A"/>
                </a:solidFill>
              </a:rPr>
              <a:t>Découverte</a:t>
            </a:r>
          </a:p>
          <a:p>
            <a:r>
              <a:rPr sz="1400" b="1">
                <a:solidFill>
                  <a:srgbClr val="000000"/>
                </a:solidFill>
              </a:rPr>
              <a:t>À α = 1 %, T*(1 %) = 30 min</a:t>
            </a:r>
          </a:p>
          <a:p>
            <a:r>
              <a:rPr sz="1400" b="1">
                <a:solidFill>
                  <a:srgbClr val="2C8C5A"/>
                </a:solidFill>
              </a:rPr>
              <a:t>= exactement la règle Météorage !</a:t>
            </a:r>
          </a:p>
          <a:p>
            <a:r>
              <a:rPr sz="1200" i="1">
                <a:solidFill>
                  <a:srgbClr val="595959"/>
                </a:solidFill>
              </a:rPr>
              <a:t>
→ La règle est calibrée empiriquement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13. Évaluation sur eval 2023-25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Critère opérationnel : seul le 3 km compte (protocole officiel Data Battle)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4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>
                <a:solidFill>
                  <a:srgbClr val="D48A1E"/>
                </a:solidFill>
              </a:rPr>
              <a:t>DÉFINITION : Critère 3 km (protocole officiel)</a:t>
            </a:r>
          </a:p>
          <a:p>
            <a:r>
              <a:rPr sz="1300">
                <a:solidFill>
                  <a:srgbClr val="000000"/>
                </a:solidFill>
              </a:rPr>
              <a:t>Un INCIDENT = un éclair à moins de 3 km de l'aéroport arrivant APRÈS la fin d'alerte prédite. C'est la zone vraiment dangereuse pour les opérations sol.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5760720" cy="1828800"/>
          </a:xfrm>
          <a:prstGeom prst="roundRect">
            <a:avLst/>
          </a:prstGeom>
          <a:solidFill>
            <a:srgbClr val="F0F0F0"/>
          </a:solidFill>
          <a:ln>
            <a:solidFill>
              <a:srgbClr val="A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/>
            <a:r>
              <a:rPr sz="2000" b="1">
                <a:solidFill>
                  <a:srgbClr val="A83232"/>
                </a:solidFill>
              </a:rPr>
              <a:t>CG (nuage-sol)</a:t>
            </a:r>
          </a:p>
          <a:p>
            <a:r>
              <a:rPr sz="1300">
                <a:solidFill>
                  <a:srgbClr val="000000"/>
                </a:solidFill>
              </a:rPr>
              <a:t>L'éclair touche le sol.
Dangereux pour le personnel sol.
Compte dans le risque opérationnel.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560320"/>
            <a:ext cx="5760720" cy="1828800"/>
          </a:xfrm>
          <a:prstGeom prst="roundRect">
            <a:avLst/>
          </a:prstGeom>
          <a:solidFill>
            <a:srgbClr val="F0F0F0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/>
            <a:r>
              <a:rPr sz="2000" b="1">
                <a:solidFill>
                  <a:srgbClr val="595959"/>
                </a:solidFill>
              </a:rPr>
              <a:t>IC (intra-nuage)</a:t>
            </a:r>
          </a:p>
          <a:p>
            <a:r>
              <a:rPr sz="1300">
                <a:solidFill>
                  <a:srgbClr val="000000"/>
                </a:solidFill>
              </a:rPr>
              <a:t>L'éclair reste dans le nuage.
Non dangereux pour les opérations sol.
Non compté dans le risque.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Données eval 2023-25 :</a:t>
            </a:r>
          </a:p>
          <a:p>
            <a:r>
              <a:rPr sz="1400">
                <a:solidFill>
                  <a:srgbClr val="000000"/>
                </a:solidFill>
              </a:rPr>
              <a:t>  - 973 alertes inédites</a:t>
            </a:r>
          </a:p>
          <a:p>
            <a:r>
              <a:rPr sz="1400">
                <a:solidFill>
                  <a:srgbClr val="000000"/>
                </a:solidFill>
              </a:rPr>
              <a:t>  - 17 037 CG analysables (avec un suivant observable)</a:t>
            </a:r>
          </a:p>
          <a:p>
            <a:r>
              <a:rPr sz="1400" b="1">
                <a:solidFill>
                  <a:srgbClr val="A83232"/>
                </a:solidFill>
              </a:rPr>
              <a:t>  - 385 CG &lt;3 km (base du risque) | 1 610 IC &lt;3 km (non comptés)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INCIDENT = CG &lt;3 km arrivant APRES notre levee. IC ne comptent pas (features seulement).</a:t>
            </a:r>
          </a:p>
          <a:p>
            <a:pPr>
              <a:defRPr sz="2600" b="1">
                <a:solidFill>
                  <a:srgbClr val="1F4E79"/>
                </a:solidFill>
              </a:defRPr>
            </a:pPr>
            <a:r>
              <a:t>Le plancher T_min est le levier operationnel ajustable par l operateur :</a:t>
            </a:r>
          </a:p>
          <a:p>
            <a:pPr>
              <a:defRPr sz="2600" b="1">
                <a:solidFill>
                  <a:srgbClr val="1F4E79"/>
                </a:solidFill>
              </a:defRPr>
            </a:pPr>
            <a:r>
              <a:t>   T_min = 0  -&gt; modele pur (risque max, gain max).</a:t>
            </a:r>
          </a:p>
          <a:p>
            <a:pPr>
              <a:defRPr sz="2600" b="1">
                <a:solidFill>
                  <a:srgbClr val="1F4E79"/>
                </a:solidFill>
              </a:defRPr>
            </a:pPr>
            <a:r>
              <a:t>   T_min = 25 -&gt; compromis recommande.</a:t>
            </a:r>
          </a:p>
          <a:p>
            <a:pPr>
              <a:defRPr sz="2600" b="1">
                <a:solidFill>
                  <a:srgbClr val="1F4E79"/>
                </a:solidFill>
              </a:defRPr>
            </a:pPr>
            <a:r>
              <a:t>   T_min = 30 -&gt; baseline Meteorage (risque ~0, gain ~0).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A chaque CG : timer = max(T_q, T_min). Reset si nouveau CG. Lift si timer expire.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749039" cy="2103120"/>
          </a:xfrm>
          <a:prstGeom prst="round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Observation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
Un CG est détecté en zone 20 km autour
de l'aéroport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749039" cy="2103120"/>
          </a:xfrm>
          <a:prstGeom prst="round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Prédiction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
Le modèle calcule T_q(X) :
le temps d'attente recommandé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554480"/>
            <a:ext cx="3749039" cy="2103120"/>
          </a:xfrm>
          <a:prstGeom prst="round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Décision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
Si T_q min de silence : LEVÉE
Sinon (nouveau CG) : RESET</a:t>
            </a:r>
          </a:p>
        </p:txBody>
      </p:sp>
      <p:pic>
        <p:nvPicPr>
          <p:cNvPr id="7" name="Picture 6" descr="formula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05" y="3804695"/>
            <a:ext cx="11247120" cy="1168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595959"/>
                </a:solidFill>
              </a:rPr>
              <a:t>INCIDENT = CG &lt;3 km arrivant APRES notre levee predite.</a:t>
            </a:r>
          </a:p>
          <a:p>
            <a:pPr algn="ctr"/>
            <a:r>
              <a:rPr sz="1500" b="1">
                <a:solidFill>
                  <a:srgbClr val="143656"/>
                </a:solidFill>
              </a:rPr>
              <a:t>Le plancher T_min est le levier operationnel : ne jamais lever avant T_min min.</a:t>
            </a:r>
          </a:p>
          <a:p>
            <a:pPr algn="ctr"/>
            <a:r>
              <a:rPr sz="1500" b="1">
                <a:solidFill>
                  <a:srgbClr val="143656"/>
                </a:solidFill>
              </a:rPr>
              <a:t>T_min = 0  -&gt; modele pur (risque max, gain max).</a:t>
            </a:r>
          </a:p>
          <a:p>
            <a:pPr algn="ctr"/>
            <a:r>
              <a:rPr sz="1500" b="1">
                <a:solidFill>
                  <a:srgbClr val="143656"/>
                </a:solidFill>
              </a:rPr>
              <a:t>T_min = 30 -&gt; baseline Meteorage (risque min, gain min).</a:t>
            </a:r>
          </a:p>
          <a:p>
            <a:pPr algn="ctr"/>
            <a:r>
              <a:rPr sz="1500" b="1">
                <a:solidFill>
                  <a:srgbClr val="143656"/>
                </a:solidFill>
              </a:rPr>
              <a:t>T_min entre les deux : compromis.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15. Resultats — sweep T_min a q=0,95 sur 973 alertes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Plus T_min haut = moins de risque, moins de gain. Compromis ajustable.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178806"/>
              </p:ext>
            </p:extLst>
          </p:nvPr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T_min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Timer moyen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Gain total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Gain/alerte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Risque CG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 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 4,9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 953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58,8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88,05 % (339/385) — non deployable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20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22,0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 365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22,5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28,05 % (108/385) — agressif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26,2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 251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15,4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17,14 % ( 66/385) — RECOMMANDE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C8C5A"/>
                          </a:solidFill>
                        </a:rPr>
                        <a:t>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30,0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 136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8C5A"/>
                          </a:solidFill>
                        </a:rPr>
                        <a:t> 8,4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C8C5A"/>
                          </a:solidFill>
                        </a:rPr>
                        <a:t> 8,57 % ( 33/385) — ~ baseline</a:t>
                      </a:r>
                      <a:r>
                        <a:rPr sz="1300" b="1">
                          <a:solidFill>
                            <a:srgbClr val="2C8C5A"/>
                          </a:solidFill>
                        </a:rPr>
                        <a:t/>
                      </a:r>
                      <a:endParaRPr sz="1300" b="1" dirty="0">
                        <a:solidFill>
                          <a:srgbClr val="2C8C5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600" b="1">
                <a:solidFill>
                  <a:srgbClr val="1F4E79"/>
                </a:solidFill>
              </a:rPr>
              <a:t>Plus T_min haut = moins de risque, moins de gain. Compromis ajustable.</a:t>
            </a:r>
          </a:p>
          <a:p>
            <a:r>
              <a:rPr sz="1300">
                <a:solidFill>
                  <a:srgbClr val="000000"/>
                </a:solidFill>
              </a:rPr>
              <a:t>   - Generation predictions.csv (1 pred / CG, confidence = S(30 min | X))</a:t>
            </a:r>
          </a:p>
          <a:p>
            <a:r>
              <a:rPr sz="1300">
                <a:solidFill>
                  <a:srgbClr val="000000"/>
                </a:solidFill>
              </a:rPr>
              <a:t>   - Sweep theta : on garde les preds avec confidence &gt;= theta, min par alerte</a:t>
            </a:r>
          </a:p>
          <a:p>
            <a:r>
              <a:rPr sz="1300">
                <a:solidFill>
                  <a:srgbClr val="000000"/>
                </a:solidFill>
              </a:rPr>
              <a:t>   - Meilleur point operationnel : theta=0,95 → R=3,61 %, gain 26 h</a:t>
            </a:r>
          </a:p>
          <a:p>
            <a:r>
              <a:rPr sz="1300">
                <a:solidFill>
                  <a:srgbClr val="000000"/>
                </a:solidFill>
              </a:rPr>
              <a:t>   - Borne oracle (last CG connu, q=0,95) : R=0,60 %, gain ~330 h</a:t>
            </a:r>
          </a:p>
          <a:p>
            <a:r>
              <a:rPr sz="1300">
                <a:solidFill>
                  <a:srgbClr val="000000"/>
                </a:solidFill>
              </a:rPr>
              <a:t>   - Baseline Meteorage 30 min : R=1,04 % (reference)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16. Detail par aeroport — q=0,95, T_min=25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Profils tres differents selon la dynamique locale des orages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Aeroport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Alertes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Timer moy.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Gain/alerte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Gain total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Risque CG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Ajaccio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26,0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11,5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37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16,28 % ( 7/43)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Bastia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26,3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15,9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62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 7,38 % ( 9/122)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Biarritz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26,4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12,7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46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12,73 % ( 7/55)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Nantes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25,7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16,0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24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26,92 % ( 7/26)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Pise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26,1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20,4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83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25,90 % (36/139)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Interpretation :</a:t>
            </a:r>
          </a:p>
          <a:p>
            <a:r>
              <a:rPr sz="1400">
                <a:solidFill>
                  <a:srgbClr val="000000"/>
                </a:solidFill>
              </a:rPr>
              <a:t>   - Bastia : MEILLEUR RATIO. 62 h gagnees pour seulement 7,4 % de risque.</a:t>
            </a:r>
          </a:p>
          <a:p>
            <a:r>
              <a:rPr sz="1400">
                <a:solidFill>
                  <a:srgbClr val="000000"/>
                </a:solidFill>
              </a:rPr>
              <a:t>   - Pise   : GAIN ABSOLU MAX (83 h) mais aussi le risque le plus eleve (26 %).</a:t>
            </a:r>
          </a:p>
          <a:p>
            <a:r>
              <a:rPr sz="1400" b="1">
                <a:solidFill>
                  <a:srgbClr val="A83232"/>
                </a:solidFill>
              </a:rPr>
              <a:t>             Orages denses qui rendent T_q plus aggressif.</a:t>
            </a:r>
          </a:p>
          <a:p>
            <a:endParaRPr sz="1400" b="1">
              <a:solidFill>
                <a:srgbClr val="A83232"/>
              </a:solidFill>
            </a:endParaRPr>
          </a:p>
          <a:p>
            <a:r>
              <a:rPr sz="1400" b="1">
                <a:solidFill>
                  <a:srgbClr val="A83232"/>
                </a:solidFill>
              </a:rPr>
              <a:t>   - Ajaccio et Biarritz : profils intermediaires.</a:t>
            </a:r>
          </a:p>
          <a:p>
            <a:r>
              <a:rPr sz="1400" b="1">
                <a:solidFill>
                  <a:srgbClr val="A83232"/>
                </a:solidFill>
              </a:rPr>
              <a:t/>
            </a:r>
          </a:p>
          <a:p>
            <a:r>
              <a:rPr sz="1400" b="1">
                <a:solidFill>
                  <a:srgbClr val="A83232"/>
                </a:solidFill>
              </a:rPr>
              <a:t>Total : 251 h / 17,14 % sur les 973 alertes de l'eval 2023-25.</a:t>
            </a:r>
          </a:p>
          <a:p>
            <a:r>
              <a:rPr sz="1400" b="1">
                <a:solidFill>
                  <a:srgbClr val="A83232"/>
                </a:solidFill>
              </a:rPr>
              <a:t>Lecture (Pise_1319, q=0,95) : modele a predit 2,75 min, prochain CG a 35,78 min,</a:t>
            </a:r>
          </a:p>
          <a:p>
            <a:r>
              <a:rPr sz="1400" b="1">
                <a:solidFill>
                  <a:srgbClr val="A83232"/>
                </a:solidFill>
              </a:rPr>
              <a:t>  a 1,87 km. C'est un cas pedagogique, pas un incident operationnel.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17. Risque empirique non-paramétrique 3 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Validation indépendante du modèle, sans hypothèse de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4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500" b="1">
                <a:solidFill>
                  <a:srgbClr val="D48A1E"/>
                </a:solidFill>
              </a:rPr>
              <a:t>DÉFINITION : Risque empirique 3 km</a:t>
            </a:r>
          </a:p>
          <a:p>
            <a:r>
              <a:rPr sz="1300">
                <a:solidFill>
                  <a:srgbClr val="000000"/>
                </a:solidFill>
              </a:rPr>
              <a:t>Pour chaque CG eval, on calcule l'écart Δ jusqu'au prochain CG et sa distance. Si on appliquait une règle 'lever après T min de silence', combien de CG &lt;3 km seraient ratés ?</a:t>
            </a:r>
          </a:p>
        </p:txBody>
      </p:sp>
      <p:pic>
        <p:nvPicPr>
          <p:cNvPr id="5" name="Picture 4" descr="formula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68880"/>
            <a:ext cx="9418320" cy="196891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243853"/>
              </p:ext>
            </p:extLst>
          </p:nvPr>
        </p:nvGraphicFramePr>
        <p:xfrm>
          <a:off x="2421466" y="4420863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Niveau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 α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visé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T*(α)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Gain vs 30 min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+25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dirty="0"/>
                        <a:t>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+21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&gt; 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non </a:t>
                      </a:r>
                      <a:r>
                        <a:rPr sz="1300" dirty="0" err="1"/>
                        <a:t>atteignable</a:t>
                      </a:r>
                      <a:endParaRPr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9467" y="63296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143656"/>
                </a:solidFill>
              </a:rPr>
              <a:t>Pour </a:t>
            </a:r>
            <a:r>
              <a:rPr sz="1500" b="1" dirty="0" err="1">
                <a:solidFill>
                  <a:srgbClr val="143656"/>
                </a:solidFill>
              </a:rPr>
              <a:t>atteindre</a:t>
            </a:r>
            <a:r>
              <a:rPr sz="1500" b="1" dirty="0">
                <a:solidFill>
                  <a:srgbClr val="143656"/>
                </a:solidFill>
              </a:rPr>
              <a:t> 1 % de </a:t>
            </a:r>
            <a:r>
              <a:rPr sz="1500" b="1" dirty="0" err="1">
                <a:solidFill>
                  <a:srgbClr val="143656"/>
                </a:solidFill>
              </a:rPr>
              <a:t>risque</a:t>
            </a:r>
            <a:r>
              <a:rPr sz="1500" b="1" dirty="0">
                <a:solidFill>
                  <a:srgbClr val="143656"/>
                </a:solidFill>
              </a:rPr>
              <a:t> sur les CG </a:t>
            </a:r>
            <a:r>
              <a:rPr sz="1500" b="1" dirty="0" err="1">
                <a:solidFill>
                  <a:srgbClr val="143656"/>
                </a:solidFill>
              </a:rPr>
              <a:t>dangereux</a:t>
            </a:r>
            <a:r>
              <a:rPr sz="1500" b="1" dirty="0">
                <a:solidFill>
                  <a:srgbClr val="143656"/>
                </a:solidFill>
              </a:rPr>
              <a:t>, la baseline 30 min </a:t>
            </a:r>
            <a:r>
              <a:rPr sz="1500" b="1" dirty="0" err="1">
                <a:solidFill>
                  <a:srgbClr val="143656"/>
                </a:solidFill>
              </a:rPr>
              <a:t>reste</a:t>
            </a:r>
            <a:r>
              <a:rPr sz="1500" b="1" dirty="0">
                <a:solidFill>
                  <a:srgbClr val="143656"/>
                </a:solidFill>
              </a:rPr>
              <a:t> </a:t>
            </a:r>
            <a:r>
              <a:rPr sz="1500" b="1" dirty="0" err="1">
                <a:solidFill>
                  <a:srgbClr val="143656"/>
                </a:solidFill>
              </a:rPr>
              <a:t>nécessaire</a:t>
            </a:r>
            <a:r>
              <a:rPr sz="1500" b="1" dirty="0">
                <a:solidFill>
                  <a:srgbClr val="143656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18. Démo Streamlit interactive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streamlit run 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- Sidebar : slider q (niveau de confiance)</a:t>
            </a:r>
          </a:p>
          <a:p>
            <a:pPr>
              <a:spcAft>
                <a:spcPts val="400"/>
              </a:spcAft>
            </a:pPr>
            <a:r>
              <a:rPr sz="1500" b="0"/>
              <a:t>- Bouton 'Lancer l'évaluation' : recalcul automatique</a:t>
            </a:r>
          </a:p>
          <a:p>
            <a:pPr>
              <a:spcAft>
                <a:spcPts val="400"/>
              </a:spcAft>
            </a:pPr>
            <a:r>
              <a:rPr sz="1500" b="0"/>
              <a:t>- 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- KPI globaux affichés :</a:t>
            </a:r>
          </a:p>
          <a:p>
            <a:pPr lvl="1">
              <a:spcAft>
                <a:spcPts val="400"/>
              </a:spcAft>
            </a:pPr>
            <a:r>
              <a:rPr sz="1300" b="0"/>
              <a:t>   . CG évalués, levées prématurées, incidents, risque réel</a:t>
            </a:r>
          </a:p>
          <a:p>
            <a:pPr lvl="1">
              <a:spcAft>
                <a:spcPts val="400"/>
              </a:spcAft>
            </a:pPr>
            <a:r>
              <a:rPr sz="1300" b="0"/>
              <a:t>   . Comparaison à la baseline 30 min</a:t>
            </a:r>
          </a:p>
          <a:p>
            <a:pPr>
              <a:spcAft>
                <a:spcPts val="400"/>
              </a:spcAft>
            </a:pPr>
            <a:r>
              <a:rPr sz="1500" b="0"/>
              <a:t>- 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- Tableau des incidents détectés (37 à q=0,95) :</a:t>
            </a:r>
          </a:p>
          <a:p>
            <a:pPr lvl="1">
              <a:spcAft>
                <a:spcPts val="400"/>
              </a:spcAft>
            </a:pPr>
            <a:r>
              <a:rPr sz="1300" b="0"/>
              <a:t>   . Date, T_q prédit, gap réel, écart, distance du prochain CG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A83232"/>
                </a:solidFill>
              </a:rPr>
              <a:t>   . Sélecteur pour ouvrir la TIMELINE VISUELLE d'un incident</a:t>
            </a:r>
          </a:p>
          <a:p>
            <a:pPr>
              <a:spcAft>
                <a:spcPts val="400"/>
              </a:spcAft>
            </a:pPr>
            <a:r>
              <a:rPr sz="1500" b="0"/>
              <a:t>- 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- Timeline visuelle d'un incident :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A83232"/>
                </a:solidFill>
              </a:rPr>
              <a:t>   . Étoile rouge = CG dangereux (&lt;3 km)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2C8C5A"/>
                </a:solidFill>
              </a:rPr>
              <a:t>   . Ligne verte = notre levée prédite T_q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A83232"/>
                </a:solidFill>
              </a:rPr>
              <a:t>   . Ligne rouge pointillée = arrivée du prochain CG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   . Bande rose = fenêtre où on aurait été en opérations à découvert</a:t>
            </a:r>
          </a:p>
          <a:p>
            <a:pPr>
              <a:spcAft>
                <a:spcPts val="400"/>
              </a:spcAft>
            </a:pPr>
            <a:r>
              <a:rPr sz="1500" b="0"/>
              <a:t>- 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- Risque empirique non-paramétrique : courbe et tableau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- Synthèse par aéroport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19. Limites et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595959"/>
                </a:solidFill>
              </a:defRPr>
            </a:pPr>
            <a:r>
              <a:t>Ce qu'il reste à faire pour passer en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760720" cy="4114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D4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/>
            <a:r>
              <a:rPr sz="2000" b="1">
                <a:solidFill>
                  <a:srgbClr val="D48A1E"/>
                </a:solidFill>
              </a:rPr>
              <a:t>Limites assumées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</a:rPr>
              <a:t>  - Données censurées à 30 min par construction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</a:rPr>
              <a:t>  - Pas de météo externe (vent, pression, humidité)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</a:rPr>
              <a:t>  - Calibration sur le test (idéal : 3 splits)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</a:rPr>
              <a:t>  - Modèle statique (re-fit annuel à prévoir)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5760720" cy="4114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/>
            <a:r>
              <a:rPr sz="2000" b="1">
                <a:solidFill>
                  <a:srgbClr val="2C8C5A"/>
                </a:solidFill>
              </a:rPr>
              <a:t>Prochaines étapes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</a:rPr>
              <a:t>  - Intégrer la météo via API Météo France / ECMWF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</a:rPr>
              <a:t>  - Validation A/B en production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</a:rPr>
              <a:t>  - Tester ancillary (k variable selon X)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</a:rPr>
              <a:t>  - Pipeline re-calibration mensuelle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8C5A"/>
                </a:solidFill>
              </a:defRPr>
            </a:pPr>
            <a:r>
              <a:t>20. En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- Ce qu'on a fait</a:t>
            </a:r>
          </a:p>
          <a:p>
            <a:pPr lvl="1">
              <a:spcAft>
                <a:spcPts val="400"/>
              </a:spcAft>
            </a:pPr>
            <a:r>
              <a:rPr sz="1300" b="0"/>
              <a:t>   . Weibull AFT entraine par MLE avec gestion native de la censure 30 min</a:t>
            </a:r>
          </a:p>
          <a:p>
            <a:pPr lvl="1">
              <a:spcAft>
                <a:spcPts val="400"/>
              </a:spcAft>
            </a:pPr>
            <a:r>
              <a:rPr sz="1300" b="0"/>
              <a:t>   . 17 variables dont le rythme concentre 57 % du pouvoir predictif</a:t>
            </a:r>
          </a:p>
          <a:p>
            <a:pPr lvl="1">
              <a:spcAft>
                <a:spcPts val="400"/>
              </a:spcAft>
            </a:pPr>
            <a:r>
              <a:rPr sz="1300" b="0"/>
              <a:t>   . Calibration empirique robuste (winsorization + monotonicite)</a:t>
            </a:r>
          </a:p>
          <a:p>
            <a:pPr>
              <a:spcAft>
                <a:spcPts val="400"/>
              </a:spcAft>
            </a:pPr>
            <a:r>
              <a:rPr sz="1500" b="0"/>
              <a:t>   . Simulation operationnelle reelle (timer CG par CG + plancher T_min)</a:t>
            </a:r>
          </a:p>
          <a:p>
            <a:pPr>
              <a:spcAft>
                <a:spcPts val="400"/>
              </a:spcAft>
            </a:pPr>
            <a:endParaRPr sz="1500" b="0"/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2C8C5A"/>
                </a:solidFill>
              </a:rPr>
              <a:t>- Ce qu'on gagne sur eval 2023-25 (973 alertes, q=0,95, CG-only strict)</a:t>
            </a:r>
          </a:p>
          <a:p>
            <a:pPr lvl="1">
              <a:spcAft>
                <a:spcPts val="400"/>
              </a:spcAft>
            </a:pPr>
            <a:r>
              <a:rPr sz="1300" b="1">
                <a:solidFill>
                  <a:srgbClr val="2C8C5A"/>
                </a:solidFill>
              </a:rPr>
              <a:t>   . T_min = 25 (recommande) : 251 h gain, 17,14 % risque CG (66/385)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   . T_min = 20 (agressif)   : 365 h gain, 28,05 %</a:t>
            </a:r>
          </a:p>
          <a:p>
            <a:pPr>
              <a:spcAft>
                <a:spcPts val="400"/>
              </a:spcAft>
            </a:pPr>
            <a:r>
              <a:rPr sz="1500" b="0"/>
              <a:t>   . T_min = 30 (~ baseline) : 136 h gain,  8,57 %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   . Baseline 30 min stricte : 0 h, 0 % (reference)</a:t>
            </a:r>
          </a:p>
          <a:p>
            <a:pPr lvl="1">
              <a:spcAft>
                <a:spcPts val="400"/>
              </a:spcAft>
            </a:pPr>
            <a:endParaRPr sz="1500" b="1">
              <a:solidFill>
                <a:srgbClr val="1F4E79"/>
              </a:solidFill>
            </a:endParaRPr>
          </a:p>
          <a:p>
            <a:pPr lvl="1">
              <a:spcAft>
                <a:spcPts val="400"/>
              </a:spcAft>
            </a:pPr>
            <a:r>
              <a:rPr sz="1300" b="0"/>
              <a:t>- Limite assumee et perspective</a:t>
            </a:r>
          </a:p>
          <a:p>
            <a:pPr lvl="1">
              <a:spcAft>
                <a:spcPts val="400"/>
              </a:spcAft>
            </a:pPr>
            <a:r>
              <a:rPr sz="1300" b="0"/>
              <a:t>   . Cible 2 % non atteinte avec le modele pur</a:t>
            </a:r>
          </a:p>
          <a:p>
            <a:pPr lvl="1">
              <a:spcAft>
                <a:spcPts val="400"/>
              </a:spcAft>
            </a:pPr>
            <a:r>
              <a:rPr sz="1300" b="0"/>
              <a:t>   . Solution : classifieur secondaire 'ce CG est-il le dernier ?'</a:t>
            </a:r>
          </a:p>
          <a:p>
            <a:pPr lvl="1">
              <a:spcAft>
                <a:spcPts val="400"/>
              </a:spcAft>
            </a:pPr>
            <a:r>
              <a:rPr sz="1300" b="0"/>
              <a:t>     pour filtrer les CG du milieu d'orage et reduire les levees prematurees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CCDDFF"/>
                </a:solidFill>
              </a:rPr>
              <a:t>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CCDDFF"/>
                </a:solidFill>
              </a:rPr>
              <a:t>Battle Météorage  |  Weibull AFT + critère 3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2891</Words>
  <Application>Microsoft Office PowerPoint</Application>
  <PresentationFormat>Personnalisé</PresentationFormat>
  <Paragraphs>402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Enrique Alves</cp:lastModifiedBy>
  <cp:revision>1</cp:revision>
  <dcterms:created xsi:type="dcterms:W3CDTF">2013-01-27T09:14:16Z</dcterms:created>
  <dcterms:modified xsi:type="dcterms:W3CDTF">2026-05-21T22:37:34Z</dcterms:modified>
  <cp:category/>
</cp:coreProperties>
</file>