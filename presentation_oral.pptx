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9:20:51.831" v="18" actId="14734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51.831" v="18" actId="14734"/>
        <pc:sldMkLst>
          <pc:docMk/>
          <pc:sldMk cId="0" sldId="267"/>
        </pc:sldMkLst>
        <pc:spChg chg="mod">
          <ac:chgData name="Enrique Alves" userId="5d13ffe67fcee0a0" providerId="LiveId" clId="{6B2B118D-CA2E-4A9B-BC7D-9BAAFE503825}" dt="2026-05-21T19:20:45.072" v="15" actId="1076"/>
          <ac:spMkLst>
            <pc:docMk/>
            <pc:sldMk cId="0" sldId="267"/>
            <ac:spMk id="4" creationId="{00000000-0000-0000-0000-000000000000}"/>
          </ac:spMkLst>
        </pc:spChg>
        <pc:graphicFrameChg chg="modGraphic">
          <ac:chgData name="Enrique Alves" userId="5d13ffe67fcee0a0" providerId="LiveId" clId="{6B2B118D-CA2E-4A9B-BC7D-9BAAFE503825}" dt="2026-05-21T19:20:51.831" v="18" actId="14734"/>
          <ac:graphicFrameMkLst>
            <pc:docMk/>
            <pc:sldMk cId="0" sldId="267"/>
            <ac:graphicFrameMk id="7" creationId="{00000000-0000-0000-0000-000000000000}"/>
          </ac:graphicFrameMkLst>
        </pc:graphicFrameChg>
        <pc:picChg chg="mod">
          <ac:chgData name="Enrique Alves" userId="5d13ffe67fcee0a0" providerId="LiveId" clId="{6B2B118D-CA2E-4A9B-BC7D-9BAAFE503825}" dt="2026-05-21T19:20:47.831" v="16" actId="1076"/>
          <ac:picMkLst>
            <pc:docMk/>
            <pc:sldMk cId="0" sldId="267"/>
            <ac:picMk id="5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37.943" v="13" actId="1076"/>
        <pc:sldMkLst>
          <pc:docMk/>
          <pc:sldMk cId="0" sldId="268"/>
        </pc:sldMkLst>
        <pc:spChg chg="mod">
          <ac:chgData name="Enrique Alves" userId="5d13ffe67fcee0a0" providerId="LiveId" clId="{6B2B118D-CA2E-4A9B-BC7D-9BAAFE503825}" dt="2026-05-21T19:20:37.943" v="13" actId="1076"/>
          <ac:spMkLst>
            <pc:docMk/>
            <pc:sldMk cId="0" sldId="268"/>
            <ac:spMk id="7" creationId="{00000000-0000-0000-0000-000000000000}"/>
          </ac:spMkLst>
        </pc:spChg>
        <pc:graphicFrameChg chg="mod">
          <ac:chgData name="Enrique Alves" userId="5d13ffe67fcee0a0" providerId="LiveId" clId="{6B2B118D-CA2E-4A9B-BC7D-9BAAFE503825}" dt="2026-05-21T19:20:35.875" v="12" actId="1076"/>
          <ac:graphicFrameMkLst>
            <pc:docMk/>
            <pc:sldMk cId="0" sldId="268"/>
            <ac:graphicFrameMk id="6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16683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 dirty="0">
                <a:solidFill>
                  <a:srgbClr val="2C8C5A"/>
                </a:solidFill>
              </a:rPr>
              <a:t>DÉFINITION : </a:t>
            </a:r>
            <a:r>
              <a:rPr sz="1500" b="1" dirty="0" err="1">
                <a:solidFill>
                  <a:srgbClr val="2C8C5A"/>
                </a:solidFill>
              </a:rPr>
              <a:t>Winsorization</a:t>
            </a:r>
            <a:endParaRPr sz="1500" b="1" dirty="0">
              <a:solidFill>
                <a:srgbClr val="2C8C5A"/>
              </a:solidFill>
            </a:endParaRPr>
          </a:p>
          <a:p>
            <a:r>
              <a:rPr sz="1300" dirty="0">
                <a:solidFill>
                  <a:srgbClr val="000000"/>
                </a:solidFill>
              </a:rPr>
              <a:t>On </a:t>
            </a:r>
            <a:r>
              <a:rPr sz="1300" dirty="0" err="1">
                <a:solidFill>
                  <a:srgbClr val="000000"/>
                </a:solidFill>
              </a:rPr>
              <a:t>remplace</a:t>
            </a:r>
            <a:r>
              <a:rPr sz="1300" dirty="0">
                <a:solidFill>
                  <a:srgbClr val="000000"/>
                </a:solidFill>
              </a:rPr>
              <a:t> les </a:t>
            </a:r>
            <a:r>
              <a:rPr sz="1300" dirty="0" err="1">
                <a:solidFill>
                  <a:srgbClr val="000000"/>
                </a:solidFill>
              </a:rPr>
              <a:t>valeurs</a:t>
            </a:r>
            <a:r>
              <a:rPr sz="1300" dirty="0">
                <a:solidFill>
                  <a:srgbClr val="000000"/>
                </a:solidFill>
              </a:rPr>
              <a:t> au-dessus du percentile 95 par la </a:t>
            </a:r>
            <a:r>
              <a:rPr sz="1300" dirty="0" err="1">
                <a:solidFill>
                  <a:srgbClr val="000000"/>
                </a:solidFill>
              </a:rPr>
              <a:t>valeur</a:t>
            </a:r>
            <a:r>
              <a:rPr sz="1300" dirty="0">
                <a:solidFill>
                  <a:srgbClr val="000000"/>
                </a:solidFill>
              </a:rPr>
              <a:t> du P95. Retire </a:t>
            </a:r>
            <a:r>
              <a:rPr sz="1300" dirty="0" err="1">
                <a:solidFill>
                  <a:srgbClr val="000000"/>
                </a:solidFill>
              </a:rPr>
              <a:t>l'effet</a:t>
            </a:r>
            <a:r>
              <a:rPr sz="1300" dirty="0">
                <a:solidFill>
                  <a:srgbClr val="000000"/>
                </a:solidFill>
              </a:rPr>
              <a:t> des outliers SANS les </a:t>
            </a:r>
            <a:r>
              <a:rPr sz="1300" dirty="0" err="1">
                <a:solidFill>
                  <a:srgbClr val="000000"/>
                </a:solidFill>
              </a:rPr>
              <a:t>supprimer</a:t>
            </a:r>
            <a:r>
              <a:rPr sz="1300" dirty="0">
                <a:solidFill>
                  <a:srgbClr val="000000"/>
                </a:solidFill>
              </a:rPr>
              <a:t>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84534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410788"/>
              </p:ext>
            </p:extLst>
          </p:nvPr>
        </p:nvGraphicFramePr>
        <p:xfrm>
          <a:off x="457200" y="4810760"/>
          <a:ext cx="11247120" cy="166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c_q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2030"/>
              </p:ext>
            </p:extLst>
          </p:nvPr>
        </p:nvGraphicFramePr>
        <p:xfrm>
          <a:off x="381000" y="4765597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0 (=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règle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Météorage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02425" y="4617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Le modèle en mode opérationnel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À chaque CG en zone 20 km, prédiction T_q dynamique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Le modèle a dit T_q minutes, mais le prochain CG arrive APRÈS et il est dangereux.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C'est exactement la règle Météorage 30 min, mais avec T_q adaptatif au contexte.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Resultats sur eval — protocole officiel, critere CG &lt;3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Sweep sur theta (= seuil sur confidence S(30 min | X))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 (= theta)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 filtrees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 &lt;3km manques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CG &lt;3km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140 / 1352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29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118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68 / 1352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5,45 %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60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47 / 1352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18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4,68 %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46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26 / 1352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11 / 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26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Sweep sur theta (= seuil sur confidence S(30 min | X))</a:t>
            </a:r>
          </a:p>
          <a:p>
            <a:r>
              <a:rPr sz="1300">
                <a:solidFill>
                  <a:srgbClr val="000000"/>
                </a:solidFill>
              </a:rPr>
              <a:t>   - Generation predictions.csv (1 pred / CG, confidence = S(30 min | X))</a:t>
            </a:r>
            <a:r>
              <a:rPr sz="1300" b="1">
                <a:solidFill>
                  <a:srgbClr val="A83232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Sweep theta : on garde les preds avec confidence &gt;= theta, min par alerte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Meilleur point operationnel : theta=0,95 → R=3,61 %, gain 26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Borne oracle (last CG connu, q=0,95) : R=0,60 %, gain ~330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Baseline Meteorage 30 min : R=1,04 % (reference)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Cas pedagogiques — sous-estimations en cours d'alerte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Visualisation Streamlit : ou le modele sous-estime un gap en cours d'alerte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prédit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Distance prochain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Pise_1319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2,75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35,78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+33,03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1,87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12,93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45,87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+32,93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2,43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Ajaccio_905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37,23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+29,67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1,44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13,46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+17,74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0,65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Biarritz_776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1,97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Mesure pedagogique : on verifie le T_q a CHAQUE CG, et non la decision finale.</a:t>
            </a:r>
          </a:p>
          <a:p>
            <a:r>
              <a:rPr sz="1400">
                <a:solidFill>
                  <a:srgbClr val="000000"/>
                </a:solidFill>
              </a:rPr>
              <a:t>  37 cas a q=0,95 ou T_q &lt; gap reel ET prochain CG &lt;3 km. Visualisables un par un</a:t>
            </a:r>
          </a:p>
          <a:p>
            <a:r>
              <a:rPr sz="1400">
                <a:solidFill>
                  <a:srgbClr val="000000"/>
                </a:solidFill>
              </a:rPr>
              <a:t>  dans Streamlit. Servent a comprendre ou le modele se trompe en cours d'alerte.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  En operationnel : un autre CG arrive APRES T_q donc on ne leverait PAS</a:t>
            </a:r>
          </a:p>
          <a:p>
            <a:r>
              <a:rPr sz="1400" b="1">
                <a:solidFill>
                  <a:srgbClr val="A83232"/>
                </a:solidFill>
              </a:rPr>
              <a:t>  l'alerte de toute facon (reset du compteur). Le vrai risque mesure par le</a:t>
            </a:r>
          </a:p>
          <a:p>
            <a:r>
              <a:rPr sz="1400" b="1">
                <a:solidFill>
                  <a:srgbClr val="A83232"/>
                </a:solidFill>
              </a:rPr>
              <a:t>  protocole reste a 2,86 % a q=0,99.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Lecture (Pise_1319, q=0,95) : modele a predit 2,75 min, prochain CG a 35,78 min,</a:t>
            </a:r>
          </a:p>
          <a:p>
            <a:r>
              <a:rPr sz="1400" b="1">
                <a:solidFill>
                  <a:srgbClr val="A83232"/>
                </a:solidFill>
              </a:rPr>
              <a:t>  a 1,87 km. C'est un cas pedagogique, pas un incident operationnel.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entraine par MLE (gere la censure native), 17 variables dont rythme = 57 % du pouvoir predictif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monotonicite) pour aligner risque annonce et risque reel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Verification non-parametrique independante (G(A), risque empirique 3 km)</a:t>
            </a:r>
          </a:p>
          <a:p>
            <a:pPr>
              <a:spcAft>
                <a:spcPts val="400"/>
              </a:spcAft>
            </a:pPr>
            <a:r>
              <a:rPr sz="1500" b="0"/>
              <a:t>   . Reproduction fidele du protocole officiel Data Battle (sweep theta sur predictions.csv)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- Ce qu'on gagne (eval 2023-25, protocole officiel CG &lt;3 km)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q = 0,99 : R = 2,86 % (11/385 CG manques), gain 26 h sur 26 alertes filtrees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q = 0,95 : R = 5,45 % (21/385), gain 60 h sur 68 alertes</a:t>
            </a:r>
          </a:p>
          <a:p>
            <a:pPr>
              <a:spcAft>
                <a:spcPts val="400"/>
              </a:spcAft>
            </a:pPr>
            <a:r>
              <a:rPr sz="1500" b="0"/>
              <a:t>   . q = 0,85 : R = 7,53 % (29/385), gain 118 h sur 140 alertes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   . Baseline 30 min Meteorage : 0 % (0/385) — perfect par construction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Streamlit : on peut deplacer le slider q pour voir le compromis live</a:t>
            </a:r>
          </a:p>
          <a:p>
            <a:pPr lvl="1">
              <a:spcAft>
                <a:spcPts val="400"/>
              </a:spcAft>
            </a:pPr>
            <a:r>
              <a:rPr sz="1300" b="0"/>
              <a:t/>
            </a:r>
          </a:p>
          <a:p>
            <a:pPr lvl="1">
              <a:spcAft>
                <a:spcPts val="400"/>
              </a:spcAft>
            </a:pPr>
            <a:r>
              <a:rPr sz="1300" b="0"/>
              <a:t>- Validation independante</a:t>
            </a:r>
          </a:p>
          <a:p>
            <a:pPr lvl="1">
              <a:spcAft>
                <a:spcPts val="400"/>
              </a:spcAft>
            </a:pPr>
            <a:r>
              <a:rPr sz="1300" b="0"/>
              <a:t>   . Risque empirique non-parametrique coherent avec le modele parametrique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2650</Words>
  <Application>Microsoft Office PowerPoint</Application>
  <PresentationFormat>Personnalisé</PresentationFormat>
  <Paragraphs>388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2026-05-21T19:20:53Z</dcterms:modified>
  <cp:category/>
</cp:coreProperties>
</file>